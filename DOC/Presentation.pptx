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5d6bb12a614cb9" /><Relationship Type="http://schemas.openxmlformats.org/officeDocument/2006/relationships/extended-properties" Target="/docProps/app.xml" Id="R593358f9ef5d4255" /><Relationship Type="http://schemas.openxmlformats.org/officeDocument/2006/relationships/officeDocument" Target="/ppt/presentation.xml" Id="R6f214f5df36b4d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0c206229384d7e"/>
  </p:sldMasterIdLst>
  <p:notesMasterIdLst>
    <p:notesMasterId xmlns:r="http://schemas.openxmlformats.org/officeDocument/2006/relationships" r:id="Rcf2d662e424a466c"/>
  </p:notesMasterIdLst>
  <p:sldIdLst>
    <p:sldId xmlns:r="http://schemas.openxmlformats.org/officeDocument/2006/relationships" id="256" r:id="R14047284b1fb477a"/>
    <p:sldId xmlns:r="http://schemas.openxmlformats.org/officeDocument/2006/relationships" id="257" r:id="R4135827cf3b1468a"/>
    <p:sldId xmlns:r="http://schemas.openxmlformats.org/officeDocument/2006/relationships" id="258" r:id="Red2035f45bd548df"/>
    <p:sldId xmlns:r="http://schemas.openxmlformats.org/officeDocument/2006/relationships" id="259" r:id="Rc6b844600f614304"/>
    <p:sldId xmlns:r="http://schemas.openxmlformats.org/officeDocument/2006/relationships" id="260" r:id="R17c9ff062aed42a9"/>
    <p:sldId xmlns:r="http://schemas.openxmlformats.org/officeDocument/2006/relationships" id="261" r:id="R6f5b30961d6e4454"/>
    <p:sldId xmlns:r="http://schemas.openxmlformats.org/officeDocument/2006/relationships" id="262" r:id="R5f1e9e59257c4029"/>
    <p:sldId xmlns:r="http://schemas.openxmlformats.org/officeDocument/2006/relationships" id="263" r:id="R9b20ca9fe72541b4"/>
    <p:sldId xmlns:r="http://schemas.openxmlformats.org/officeDocument/2006/relationships" id="264" r:id="R556e112c97e241bf"/>
    <p:sldId xmlns:r="http://schemas.openxmlformats.org/officeDocument/2006/relationships" id="265" r:id="R6d4ea548ca5d4b37"/>
    <p:sldId xmlns:r="http://schemas.openxmlformats.org/officeDocument/2006/relationships" id="266" r:id="Rfea121468d504800"/>
    <p:sldId xmlns:r="http://schemas.openxmlformats.org/officeDocument/2006/relationships" id="267" r:id="R992482740d1b44b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cb46228974402b" /><Relationship Type="http://schemas.openxmlformats.org/officeDocument/2006/relationships/slideMaster" Target="/ppt/slideMasters/slideMaster1.xml" Id="R990c206229384d7e" /><Relationship Type="http://schemas.openxmlformats.org/officeDocument/2006/relationships/notesMaster" Target="/ppt/notesMasters/notesMaster1.xml" Id="Rcf2d662e424a466c" /><Relationship Type="http://schemas.openxmlformats.org/officeDocument/2006/relationships/presProps" Target="/ppt/presProps.xml" Id="R4f25f6dd88744f81" /><Relationship Type="http://schemas.openxmlformats.org/officeDocument/2006/relationships/tableStyles" Target="/ppt/tableStyles.xml" Id="R2a7c0c190fd5474f" /><Relationship Type="http://schemas.openxmlformats.org/officeDocument/2006/relationships/slide" Target="/ppt/slides/slide1.xml" Id="R14047284b1fb477a" /><Relationship Type="http://schemas.openxmlformats.org/officeDocument/2006/relationships/slide" Target="/ppt/slides/slide2.xml" Id="R4135827cf3b1468a" /><Relationship Type="http://schemas.openxmlformats.org/officeDocument/2006/relationships/slide" Target="/ppt/slides/slide3.xml" Id="Red2035f45bd548df" /><Relationship Type="http://schemas.openxmlformats.org/officeDocument/2006/relationships/slide" Target="/ppt/slides/slide4.xml" Id="Rc6b844600f614304" /><Relationship Type="http://schemas.openxmlformats.org/officeDocument/2006/relationships/slide" Target="/ppt/slides/slide5.xml" Id="R17c9ff062aed42a9" /><Relationship Type="http://schemas.openxmlformats.org/officeDocument/2006/relationships/slide" Target="/ppt/slides/slide6.xml" Id="R6f5b30961d6e4454" /><Relationship Type="http://schemas.openxmlformats.org/officeDocument/2006/relationships/slide" Target="/ppt/slides/slide7.xml" Id="R5f1e9e59257c4029" /><Relationship Type="http://schemas.openxmlformats.org/officeDocument/2006/relationships/slide" Target="/ppt/slides/slide8.xml" Id="R9b20ca9fe72541b4" /><Relationship Type="http://schemas.openxmlformats.org/officeDocument/2006/relationships/slide" Target="/ppt/slides/slide9.xml" Id="R556e112c97e241bf" /><Relationship Type="http://schemas.openxmlformats.org/officeDocument/2006/relationships/slide" Target="/ppt/slides/slide10.xml" Id="R6d4ea548ca5d4b37" /><Relationship Type="http://schemas.openxmlformats.org/officeDocument/2006/relationships/slide" Target="/ppt/slides/slide11.xml" Id="Rfea121468d504800" /><Relationship Type="http://schemas.openxmlformats.org/officeDocument/2006/relationships/slide" Target="/ppt/slides/slide12.xml" Id="R992482740d1b44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0b8043feaf4d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Silesian Light">
      <a:dk1>
        <a:srgbClr val="000000"/>
      </a:dk1>
      <a:lt1>
        <a:srgbClr val="FFFFFF"/>
      </a:lt1>
      <a:dk2>
        <a:srgbClr val="073763"/>
      </a:dk2>
      <a:lt2>
        <a:srgbClr val="E5E7EB"/>
      </a:lt2>
      <a:accent1>
        <a:srgbClr val="005AA9"/>
      </a:accent1>
      <a:accent2>
        <a:srgbClr val="F2B705"/>
      </a:accent2>
      <a:accent3>
        <a:srgbClr val="073763"/>
      </a:accent3>
      <a:accent4>
        <a:srgbClr val="E30613"/>
      </a:accent4>
      <a:accent5>
        <a:srgbClr val="6B7280"/>
      </a:accent5>
      <a:accent6>
        <a:srgbClr val="16A34A"/>
      </a:accent6>
      <a:hlink>
        <a:srgbClr val="005AA9"/>
      </a:hlink>
      <a:folHlink>
        <a:srgbClr val="073763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ilesian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fa3cc69f5e4e81" /><Relationship Type="http://schemas.openxmlformats.org/officeDocument/2006/relationships/notesMaster" Target="/ppt/notesMasters/notesMaster1.xml" Id="R34aa9fc921af40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72e697793d49ec" /><Relationship Type="http://schemas.openxmlformats.org/officeDocument/2006/relationships/notesMaster" Target="/ppt/notesMasters/notesMaster1.xml" Id="R8a5b9ee26c9246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19b66785154a2e" /><Relationship Type="http://schemas.openxmlformats.org/officeDocument/2006/relationships/notesMaster" Target="/ppt/notesMasters/notesMaster1.xml" Id="R6f2f4f819a5d4d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9dbbc2087c46dc" /><Relationship Type="http://schemas.openxmlformats.org/officeDocument/2006/relationships/notesMaster" Target="/ppt/notesMasters/notesMaster1.xml" Id="R4587345d338443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65d3127ecb4a00" /><Relationship Type="http://schemas.openxmlformats.org/officeDocument/2006/relationships/notesMaster" Target="/ppt/notesMasters/notesMaster1.xml" Id="Rd8caefa1546845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0fb1dd8cf04651" /><Relationship Type="http://schemas.openxmlformats.org/officeDocument/2006/relationships/notesMaster" Target="/ppt/notesMasters/notesMaster1.xml" Id="R872c9cb8c5784a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105092d5394d13" /><Relationship Type="http://schemas.openxmlformats.org/officeDocument/2006/relationships/notesMaster" Target="/ppt/notesMasters/notesMaster1.xml" Id="R6c92e6311a7941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bd7e8e971347e0" /><Relationship Type="http://schemas.openxmlformats.org/officeDocument/2006/relationships/notesMaster" Target="/ppt/notesMasters/notesMaster1.xml" Id="Rfdf53eb633814c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294580bc654dce" /><Relationship Type="http://schemas.openxmlformats.org/officeDocument/2006/relationships/notesMaster" Target="/ppt/notesMasters/notesMaster1.xml" Id="Rf3a055b222e54a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ad1df73e684595" /><Relationship Type="http://schemas.openxmlformats.org/officeDocument/2006/relationships/notesMaster" Target="/ppt/notesMasters/notesMaster1.xml" Id="R142af1da91924e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6e958f602b47f6" /><Relationship Type="http://schemas.openxmlformats.org/officeDocument/2006/relationships/notesMaster" Target="/ppt/notesMasters/notesMaster1.xml" Id="Rdc4cca49422447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17744b28a0439d" /><Relationship Type="http://schemas.openxmlformats.org/officeDocument/2006/relationships/notesMaster" Target="/ppt/notesMasters/notesMaster1.xml" Id="R187a199a882640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c06d312de41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57b708fe804846" /><Relationship Type="http://schemas.openxmlformats.org/officeDocument/2006/relationships/slideLayout" Target="/ppt/slideLayouts/slideLayout1.xml" Id="R3df57916453b4a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f57916453b4a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Silesian Light">
      <a:dk1>
        <a:srgbClr val="000000"/>
      </a:dk1>
      <a:lt1>
        <a:srgbClr val="FFFFFF"/>
      </a:lt1>
      <a:dk2>
        <a:srgbClr val="073763"/>
      </a:dk2>
      <a:lt2>
        <a:srgbClr val="E5E7EB"/>
      </a:lt2>
      <a:accent1>
        <a:srgbClr val="005AA9"/>
      </a:accent1>
      <a:accent2>
        <a:srgbClr val="F2B705"/>
      </a:accent2>
      <a:accent3>
        <a:srgbClr val="073763"/>
      </a:accent3>
      <a:accent4>
        <a:srgbClr val="E30613"/>
      </a:accent4>
      <a:accent5>
        <a:srgbClr val="6B7280"/>
      </a:accent5>
      <a:accent6>
        <a:srgbClr val="16A34A"/>
      </a:accent6>
      <a:hlink>
        <a:srgbClr val="005AA9"/>
      </a:hlink>
      <a:folHlink>
        <a:srgbClr val="073763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ilesian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ae13a034149bf" /><Relationship Type="http://schemas.openxmlformats.org/officeDocument/2006/relationships/image" Target="/ppt/media/image.jpeg" Id="R7355bafc1f8a4bbc" /><Relationship Type="http://schemas.openxmlformats.org/officeDocument/2006/relationships/image" Target="/ppt/media/image.png" Id="Re7436acb5617426a" /><Relationship Type="http://schemas.openxmlformats.org/officeDocument/2006/relationships/image" Target="/ppt/media/image2.png" Id="Rd647e96a08f24b1b" /><Relationship Type="http://schemas.openxmlformats.org/officeDocument/2006/relationships/notesSlide" Target="/ppt/notesSlides/notesSlide1.xml" Id="R5c65252b92a341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d10fd75094a0b" /><Relationship Type="http://schemas.openxmlformats.org/officeDocument/2006/relationships/notesSlide" Target="/ppt/notesSlides/notesSlide2.xml" Id="R36fe4ed990bf48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fdb146b114a9d" /><Relationship Type="http://schemas.openxmlformats.org/officeDocument/2006/relationships/image" Target="/ppt/media/image3.png" Id="Ra5770a3fa9604a5f" /><Relationship Type="http://schemas.openxmlformats.org/officeDocument/2006/relationships/notesSlide" Target="/ppt/notesSlides/notesSlide3.xml" Id="R5bd69ff2b45648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a6d83054541af" /><Relationship Type="http://schemas.openxmlformats.org/officeDocument/2006/relationships/notesSlide" Target="/ppt/notesSlides/notesSlide4.xml" Id="Rba7333c2d41e46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69bc4ee614cf1" /><Relationship Type="http://schemas.openxmlformats.org/officeDocument/2006/relationships/notesSlide" Target="/ppt/notesSlides/notesSlide5.xml" Id="R916bbf1d1e864e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ee5bd4d87490f" /><Relationship Type="http://schemas.openxmlformats.org/officeDocument/2006/relationships/notesSlide" Target="/ppt/notesSlides/notesSlide6.xml" Id="R5e444179526f46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efb7985b34b10" /><Relationship Type="http://schemas.openxmlformats.org/officeDocument/2006/relationships/notesSlide" Target="/ppt/notesSlides/notesSlide7.xml" Id="Ra53d04501df94e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47fbff5aa499c" /><Relationship Type="http://schemas.openxmlformats.org/officeDocument/2006/relationships/image" Target="/ppt/media/image4.png" Id="Ra2cef4bb5e86467f" /><Relationship Type="http://schemas.openxmlformats.org/officeDocument/2006/relationships/notesSlide" Target="/ppt/notesSlides/notesSlide8.xml" Id="R4cb69245b5ca4f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76efb925a4f2f" /><Relationship Type="http://schemas.openxmlformats.org/officeDocument/2006/relationships/image" Target="/ppt/media/image5.png" Id="Rc9964c3553504f48" /><Relationship Type="http://schemas.openxmlformats.org/officeDocument/2006/relationships/image" Target="/ppt/media/image6.png" Id="R26eaacdbc8504593" /><Relationship Type="http://schemas.openxmlformats.org/officeDocument/2006/relationships/notesSlide" Target="/ppt/notesSlides/notesSlide9.xml" Id="R4ccc4f33702d41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27779349074b51" /><Relationship Type="http://schemas.openxmlformats.org/officeDocument/2006/relationships/image" Target="/ppt/media/image7.png" Id="Rc8a10b93f410498a" /><Relationship Type="http://schemas.openxmlformats.org/officeDocument/2006/relationships/notesSlide" Target="/ppt/notesSlides/notesSlide10.xml" Id="R6ceb08cc81dd4b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aa32f9e004513" /><Relationship Type="http://schemas.openxmlformats.org/officeDocument/2006/relationships/image" Target="/ppt/media/image8.png" Id="R75a25f14c902449b" /><Relationship Type="http://schemas.openxmlformats.org/officeDocument/2006/relationships/notesSlide" Target="/ppt/notesSlides/notesSlide11.xml" Id="Rbfd624c2a43a41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754e17ef546c8" /><Relationship Type="http://schemas.openxmlformats.org/officeDocument/2006/relationships/notesSlide" Target="/ppt/notesSlides/notesSlide12.xml" Id="R483c5c33fcf547d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55bafc1f8a4bb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A7CF2D-EA3D-4250-B6E5-84B47570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D3D">
              <a:alpha val="72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36acb5617426a"/>
          <a:stretch xmlns:a="http://schemas.openxmlformats.org/drawingml/2006/main"/>
        </p:blipFill>
        <p:spPr>
          <a:xfrm xmlns:a="http://schemas.openxmlformats.org/drawingml/2006/main">
            <a:off x="4091564" y="647700"/>
            <a:ext cx="637022" cy="81915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7e96a08f24b1b"/>
          <a:stretch xmlns:a="http://schemas.openxmlformats.org/drawingml/2006/main"/>
        </p:blipFill>
        <p:spPr>
          <a:xfrm xmlns:a="http://schemas.openxmlformats.org/drawingml/2006/main">
            <a:off x="5605165" y="590550"/>
            <a:ext cx="791170" cy="1143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33109-1407-499E-91A8-8747960A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76500"/>
            <a:ext cx="914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Genetic Algorithm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4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MountainCar-v0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40714-F328-458E-B4D6-1A89CC81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100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A8A115-D04B-4A2A-AD35-69432D71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958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FINAL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A324D-7098-41C3-A609-BC2696D4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8768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Hyunseok Cho, Jakub Zajac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4D478-A98A-47E6-AC9B-35E07D39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050" b="0">
                <a:solidFill>
                  <a:srgbClr val="DCE6F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CE6F2"/>
                </a:solidFill>
                <a:latin typeface="Arial"/>
                <a:ea typeface="Arial"/>
                <a:cs typeface="Arial"/>
              </a:rPr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2603154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20138C-F983-40B0-83E9-B0AD64FC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874F8A-854A-49E2-AE81-EDD1F24E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C3598-9E7A-4824-871C-37A4909C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E2B5E-C473-4405-AD44-E908683D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SUPERVISED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D2E851-F1FB-4C99-87B2-A6422D94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5B0472-1C6B-4867-8461-E951542F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Today's Agenda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66C8F-E5E1-4ED0-A4E1-70CBB26E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00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283DC-D52C-486E-83F4-08B3F0AF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8610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C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230EDD-567A-4FC7-A06E-FDAED44A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289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Project topic and environment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21347E-CEE5-472E-9051-8336586E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1465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00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EA6248-A837-484E-AB41-D2321E35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08610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C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4C322-B25D-4707-91F8-57EC49D1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289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Genetic Algorithm 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CD475-24A4-4CDC-B417-CF7F09CA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91465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00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8A9A1-3415-409E-B2C1-C7507ADE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8610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C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7D097-E1E1-4690-9D42-7ECB1867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0289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Fitness and policy representation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6CDE87-59B2-4BE2-9168-A4732B15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672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00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F21C6D-C52D-45EF-8D6B-D56C15FF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386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C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B735D9-EA75-4767-B5EA-EE544DD0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3815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Implementation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8F7232-F623-4C44-9623-6A4B06BE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2672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00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925C91-20BC-41B8-A21C-197E9B1D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386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C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2C1127-C80B-4DEF-BFB3-529E75B4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815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Experimental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A435D7-9888-45C1-AAEC-7E5F67EF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67200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300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2DC769-7997-4474-BE07-4393A78A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386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C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A021B-7D4C-4CD5-95AB-5ED29266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8150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Conclusions and future work</a:t>
            </a:r>
          </a:p>
        </p:txBody>
      </p:sp>
    </p:spTree>
    <p:extLst>
      <p:ext uri="{BB962C8B-B14F-4D97-AF65-F5344CB8AC3E}">
        <p14:creationId xmlns:p14="http://schemas.microsoft.com/office/powerpoint/2010/main" val="16388158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1713B9-23F8-40BA-830E-1FE61921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BA77E-DBF5-45A2-BC72-FAECBE84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D1D09-AB28-449F-9A3C-7ECBAC6C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17DAA-8C48-4AC7-BF4A-465757BF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ENVIRONMENT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E9573-DED4-489E-AE75-CA7C2E97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145AC-35CB-47E4-87FC-474FF003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Problem: Reach The MountainCar Goal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4F0EC5-40EA-4224-9C99-5320AFA2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The car must build momentum because direct acceleration is not enough.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5D3F7-2063-45E5-A375-13DB0955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F993A-2C78-4245-BB5C-A08AD0F2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9085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Observation: position and velocity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246F7-2509-461E-894B-8BB9CD2E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9B61F0-23C7-4C12-B88A-1479AF5F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6710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Actions: accelerate left, do nothing, accelerate right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E33E49-96AC-4314-8F62-6DF5CEDC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78F17-92D4-430D-9255-C7827F18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4335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Reward: -1 for every time step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2FC9D1-63C4-46C7-85F5-637E2DA2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5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2F0CB-8115-4F48-B906-AAD5BE8D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1960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Goal: reach the flag in as few steps as possible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98380C-ECBA-499A-94AF-33AC18E6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81250"/>
            <a:ext cx="39814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770a3fa9604a5f"/>
          <a:stretch xmlns:a="http://schemas.openxmlformats.org/drawingml/2006/main"/>
        </p:blipFill>
        <p:spPr>
          <a:xfrm xmlns:a="http://schemas.openxmlformats.org/drawingml/2006/main">
            <a:off x="6991350" y="2552700"/>
            <a:ext cx="3638550" cy="23241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08C35-58FF-4802-B9E8-445702C2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219700"/>
            <a:ext cx="417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Visual proof: saved policy reaches the goal area without retraining.</a:t>
            </a:r>
          </a:p>
        </p:txBody>
      </p:sp>
    </p:spTree>
    <p:extLst>
      <p:ext uri="{BB962C8B-B14F-4D97-AF65-F5344CB8AC3E}">
        <p14:creationId xmlns:p14="http://schemas.microsoft.com/office/powerpoint/2010/main" val="2673988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8C410C-22ED-46A3-9610-7C3DC322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0071E-0DFB-43C5-AC68-BB597A06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78FE68-0C7F-432E-8294-5846D4A1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D16A6-91C9-411D-9EAF-C017A819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METHOD CHOICE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757A93-5A8A-4C37-AD06-CBD323E9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39128-BA05-44BC-AA79-498FB2C6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Why A Genetic Algorithm?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96C9D-77C1-44DC-8AFE-4220A6F88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We evolve policies directly instead of learning gradients.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4B013B-4E75-4690-8E29-0BA0C346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247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1ADEE3-7610-432A-9FAA-0F4140BD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6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Fits the course objective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988C0-CA62-4274-81B6-92519D96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2647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Demonstrates selection, crossover, mutation, elitism, and generations.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95C379-E0DB-43D8-A6AC-3EE51244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43250"/>
            <a:ext cx="247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6D385-C29F-46E4-8AB1-BD0660FF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6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Simple policy representation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E98EF4-C872-4BFE-9507-D47F8F50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95750"/>
            <a:ext cx="2647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 chromosome is a policy table, so every individual is a complete controller.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E8B686-7414-4DC1-8B71-99E32290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84CD7F-F73C-4C82-AA75-3E95F277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71850"/>
            <a:ext cx="266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6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Easy to compare generations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893C14-F745-48DD-BE34-BA35A841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6479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Each generation champion is saved and validated under the same seed set.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48323B-3DA4-49DB-B3B1-13BE743E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864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20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Selected over random search because GA improves the population systematically.</a:t>
            </a:r>
          </a:p>
        </p:txBody>
      </p:sp>
    </p:spTree>
    <p:extLst>
      <p:ext uri="{BB962C8B-B14F-4D97-AF65-F5344CB8AC3E}">
        <p14:creationId xmlns:p14="http://schemas.microsoft.com/office/powerpoint/2010/main" val="9559264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680E4A-1F3E-44B8-A1E9-AA2EAD47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13C0FF-37B6-4734-A9FB-B05B3270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C4D1B-DE87-4F4C-A608-B98F5835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44836-5DE7-4015-A0C6-5C1B918F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FITNESS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45C060-EF36-477A-9139-905783FA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D1BA9-BC69-4898-8CCD-FD098909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Policy Representation And Fitness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09433-89BB-4B2C-B64D-88A8AE4C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The policy table maps discretized states to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78BF4-F5A1-42A2-9FF4-13D4A0F1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17621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06FBFA-F372-4722-80DC-7775B69D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1419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2AFF1C-644D-4A14-9ED9-6162BB37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1457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position bins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338052-BDD6-45C0-AE3E-3B558F0F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33700"/>
            <a:ext cx="17621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F8EA13-3146-45E9-AD67-23539071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1419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5D557D-6F5D-41B1-A17B-5C5D3D0A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09950"/>
            <a:ext cx="1457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velocity bins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167D2B-28F9-461F-993B-E8AF4229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33700"/>
            <a:ext cx="17621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DCE14-F367-44F5-BFAD-6F21C898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67050"/>
            <a:ext cx="1419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400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F51234-36F2-4B87-AF6A-324A9950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09950"/>
            <a:ext cx="1457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policy genes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EF3531-5851-4D40-B42E-CFEF3C16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fitness = total_reward + progress_bonus + goal_bonus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CD454-E8A8-4FA1-9671-0457EDF9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05350"/>
            <a:ext cx="6286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E4848-DC04-4A62-BD44-07011AC8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33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F48D01-09F3-45B8-98BE-C624FA2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575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Raw reward alone makes failed policies look too similar.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7E9AA6-292C-49C2-A9EC-7AC21C7B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09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DAE4A6-D21E-4E6C-AC15-0F19EBF6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337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Progress bonus rewards movement toward the goal.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AE7F4B-D7FC-4E83-889A-CCA7182C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862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F07FF5-AE19-47F7-AE46-883B6098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1000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Goal bonus rewards actual success.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3B7E49-033E-4157-BD14-CC815607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186D76-B5D8-4D49-ABCE-B48CD685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86250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Fewer steps still produce better total reward.</a:t>
            </a:r>
          </a:p>
        </p:txBody>
      </p:sp>
    </p:spTree>
    <p:extLst>
      <p:ext uri="{BB962C8B-B14F-4D97-AF65-F5344CB8AC3E}">
        <p14:creationId xmlns:p14="http://schemas.microsoft.com/office/powerpoint/2010/main" val="1995120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CDC92F-A6AE-4F55-9B87-B55D4E15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4152F1-AD07-40C7-A520-DE9AC8C7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FA105-9B67-4332-8052-2210C8CE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85770-7CCC-438D-9D06-659A32DD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ALGORITHM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C700A-A758-4BCC-A9DA-8A031BE5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ACF2E-1687-4955-8EF3-9BA619B6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Main Algorithm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A39626-1C43-4FB9-9F8A-6A0FA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The detailed report contains the full flowchart; this slide shows the presentation version.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9F5FC7-0CBD-4AAD-A350-6BDD8C78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80728-DD46-49C8-AFBD-07A85671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495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7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76D23-6343-4A02-BCA6-D7CC3F99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242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FA9B26-BA50-45A5-B1CE-6DBE8DE2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670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Create population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933D60-1B53-4EB9-B658-2B3DE580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371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80 random policy tables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01A81-6F6B-4A6F-931E-43F93C68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956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985D3A-D7FC-4BEC-B711-4E1EDD76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95600"/>
            <a:ext cx="495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7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112418-75FA-4C94-A818-59A4AC3F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242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264771-94CA-4FB3-A595-67C3D220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670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Evaluate policies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A79FAA-8FFA-46BA-8567-0294A57E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71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Run each policy in MountainCar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FA4509-2CC9-4D61-8775-2792AC98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956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053CA9-8D6A-45D2-84DB-48E298CB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95600"/>
            <a:ext cx="495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7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5F040B-FF18-41A7-9DD8-8FB17B36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871BA2-F11F-429B-88CE-5521F8C8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Calculate fitness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FB522D-C28E-4568-85CD-701B5169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71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Reward + progress + goal bonus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A21405-A61E-43B7-BCF9-AAC92DB4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1EF64F-8CF0-4AE8-AAF6-8C9F2AF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495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7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5421BA-B0D0-4435-8017-330BC383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9651F8-1472-4DC0-A242-870A4BA8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552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Preserve elites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CA6FCA-5168-4311-8CDA-9B30AF3B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8577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Copy top 6 policies directly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F90844-4985-44CA-8AB3-18C697C3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97BE5D-1146-40E0-B655-D6320F91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495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7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99B8E1-46D0-4844-94A7-92B694B1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01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CE24DF-B17F-403D-9FA9-55399703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52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Reproduce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903D32-2050-481E-8569-1DE425D9D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8577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Tournament selection, crossover, mutation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6F9693-CD09-4748-8B6A-8B98601A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81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00161A-CF40-499D-B84F-7E5A6756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81500"/>
            <a:ext cx="495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7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B4A8B8-455E-4F88-820C-689CCCC4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10100"/>
            <a:ext cx="495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59F02D-1F5D-4D7E-B530-E317186B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52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Repeat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83FB62-13CD-40E6-84C7-DC596D14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577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Build next generation up to 60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727026-2DAA-48CC-9602-D1A11B67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007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Saved during training: generation champions, overall best policy, CSV metrics, and plots.</a:t>
            </a:r>
          </a:p>
        </p:txBody>
      </p:sp>
    </p:spTree>
    <p:extLst>
      <p:ext uri="{BB962C8B-B14F-4D97-AF65-F5344CB8AC3E}">
        <p14:creationId xmlns:p14="http://schemas.microsoft.com/office/powerpoint/2010/main" val="5432754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892416-6F09-4C75-97F5-1BBBBA35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22C4F-7C10-465C-B2F8-1B4D207B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D21C3-C3B9-493B-BF63-208FC763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0DC85-1175-4886-BD96-7B0999FD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REPOSITORY 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BD9EE-BF97-47A6-9F0B-7690E618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26D8DE-8E20-48D6-910D-0F2CA304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Implementation Overview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A115DB-C5F4-49CD-A431-84A5A879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The repository is organized for final submission.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A99C73-B91A-4328-B6EF-33345FC4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266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86D803-C880-4EA8-9DBB-425C9090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IMPL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FF347-F9AB-4035-8701-6946494C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mountain_car_ga.py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visualize_best_solution.py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requirements.txt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README.md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515B2-816F-4481-8B28-AC135134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28950"/>
            <a:ext cx="266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AB2C2-F3C2-4C68-8941-BDB23DCB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766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97F38-8D1D-4809-AA19-FED95C1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10000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CSV results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training and validation plots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best_individual.npy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generation champions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30DE0-9238-4838-A815-E15EBB12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266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BCCDF-1EC3-4E10-A2A4-B444A3D8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766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DOC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E2A50-3D95-487F-AF47-E6C97EC0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0000"/>
            <a:ext cx="285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final report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task reports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algorithm details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27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A40C47-D6A9-42B1-8C2D-0F236DF8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Run from project root: python IMPL/mountain_car_ga.py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EA1F62-76C7-4B51-9906-6C2C7D8D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B7A"/>
                </a:solidFill>
                <a:latin typeface="Arial"/>
                <a:ea typeface="Arial"/>
                <a:cs typeface="Arial"/>
              </a:rPr>
              <a:t>All generated outputs are saved under DATA/.</a:t>
            </a:r>
          </a:p>
        </p:txBody>
      </p:sp>
    </p:spTree>
    <p:extLst>
      <p:ext uri="{BB962C8B-B14F-4D97-AF65-F5344CB8AC3E}">
        <p14:creationId xmlns:p14="http://schemas.microsoft.com/office/powerpoint/2010/main" val="12965373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9F174B-6F16-4E0E-834D-70A42EE4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1EB5B7-FAC8-457B-998E-FCC9410F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F9FD3-DB6B-47E9-A0A6-43128610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A75ED-E1F3-4725-A97A-30CDCC5A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EXPERIMENTS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C727A-8E12-4743-A012-7221CB19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1CCE9-66BE-4D2D-B164-0A2043C1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Experiment 1: Training Progress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01A1E-7177-4355-A9EA-645D1148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Fitness improves strongly over generations.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8ACAB8-31B6-4E76-AA75-E7E3B7E6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429375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ef4bb5e86467f"/>
          <a:stretch xmlns:a="http://schemas.openxmlformats.org/drawingml/2006/main"/>
        </p:blipFill>
        <p:spPr>
          <a:xfrm xmlns:a="http://schemas.openxmlformats.org/drawingml/2006/main">
            <a:off x="1900238" y="2857500"/>
            <a:ext cx="4000500" cy="30003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468E99-B291-4DD6-BD7D-ACB09983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194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9149DB-F8F2-48F3-B6B7-0AFAA829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52750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19.78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F8B229-43F0-42FC-A2BF-1253F7F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956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Gen 1 best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65E1B3-D3AE-4B3A-BB92-F2752E90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481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DB7EA7-F9FD-4CDC-B066-BAC4D059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81450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574.67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2A1D3A-7A25-4C70-83A0-62CDAAF7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243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Gen 56 best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55B0B3-254B-472B-9127-41CA9762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768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31BFD9-0F39-48F5-B539-7A9F5CA6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572.00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18DED1-CB56-422F-908F-89273EC8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530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Gen 60 best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010A94-9CCC-4342-911F-93B07FAE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848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Gen 56 is training-best; Gen 55 is validation-best because validation uses fixed seeds.</a:t>
            </a:r>
          </a:p>
        </p:txBody>
      </p:sp>
    </p:spTree>
    <p:extLst>
      <p:ext uri="{BB962C8B-B14F-4D97-AF65-F5344CB8AC3E}">
        <p14:creationId xmlns:p14="http://schemas.microsoft.com/office/powerpoint/2010/main" val="7763017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B683D1-8435-4833-91BA-B6771448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E4865-5B0D-40A4-98E6-9A3C6DB0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A79CE5-5ACD-45A7-AA1F-B45FF309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C63E4-21BA-4265-8FF8-F6C82CF8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22EAD-ECC9-4F92-9B5C-D900B387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74510-4CD3-48D1-9E38-9BFB4719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Experiment 2: Champion Comparison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40976C-715E-450E-B308-916F699A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Each generation best policy is re-tested using the same validation seeds.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F66687-2A80-4960-9402-520648C5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47950"/>
            <a:ext cx="4857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64c3553504f48"/>
          <a:stretch xmlns:a="http://schemas.openxmlformats.org/drawingml/2006/main"/>
        </p:blipFill>
        <p:spPr>
          <a:xfrm xmlns:a="http://schemas.openxmlformats.org/drawingml/2006/main">
            <a:off x="962025" y="2781300"/>
            <a:ext cx="4267200" cy="21336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D231BC-7F65-4B9E-A2B1-C47A5053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47950"/>
            <a:ext cx="4857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aacdbc8504593"/>
          <a:stretch xmlns:a="http://schemas.openxmlformats.org/drawingml/2006/main"/>
        </p:blipFill>
        <p:spPr>
          <a:xfrm xmlns:a="http://schemas.openxmlformats.org/drawingml/2006/main">
            <a:off x="6296025" y="2781300"/>
            <a:ext cx="4267200" cy="21336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DDCEA-5096-49B0-AE3E-C5F4FDD7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608694-D935-4F3A-8E6C-E5F4014B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34000"/>
            <a:ext cx="786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Generation 1: 0% success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1D5DE9-4B8E-4C53-910F-3668C8C9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95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DB8465-9A8D-4CF8-9AC6-78232E6B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9750"/>
            <a:ext cx="786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Generation 55: 100% success, avg fitness 560.20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370712-3CEE-44D0-9E7E-2E2242CC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81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D1E51B-4E42-4243-8875-8325F89F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905500"/>
            <a:ext cx="786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Generation 60: 100% success, avg fitness 558.80</a:t>
            </a:r>
          </a:p>
        </p:txBody>
      </p:sp>
    </p:spTree>
    <p:extLst>
      <p:ext uri="{BB962C8B-B14F-4D97-AF65-F5344CB8AC3E}">
        <p14:creationId xmlns:p14="http://schemas.microsoft.com/office/powerpoint/2010/main" val="6654539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1B1B7B-264B-4CB3-860E-D0D67377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47C81-9DC4-481F-9CD0-5D192D23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52DF3-19E3-4826-83B9-7739C5FA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7FF1E7-78A2-4E60-A3F5-BF6E4B52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ROBUSTNESS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2198F-06D4-44D2-85B9-54EC7861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F210B-CBA7-49B2-9A41-A246D17E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Experiment 3: Randomization Effects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DE9AE-5D48-45D5-AA73-6175E4D5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800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The final policy was tested under 20 different reset seeds.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16CDA-F88E-462C-A1DD-C9BD6383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70485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a10b93f410498a"/>
          <a:stretch xmlns:a="http://schemas.openxmlformats.org/drawingml/2006/main"/>
        </p:blipFill>
        <p:spPr>
          <a:xfrm xmlns:a="http://schemas.openxmlformats.org/drawingml/2006/main">
            <a:off x="1671638" y="2781300"/>
            <a:ext cx="5000625" cy="3333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06FA4-E8F5-4310-B0B7-44428090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146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B93A4-AA00-45AE-B8C2-F76B4868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480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20/20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36D766-BA01-46F5-A9F0-38C0C0DB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90900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trials succeeded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2379E-2BC6-4B6D-A0FD-48EBFD6C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624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D7349-88B4-4C6A-AC63-29BA5766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957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-150.10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CBC13F-07B8-4CE2-85E1-720F2BB2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38650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avg reward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A69A06-7C2F-492C-843F-A84EA3E4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101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158432-6568-44D3-A109-56A2293E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4350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8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549.90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C2B68F-5857-428B-A18F-D848CADC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486400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avg fitness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52E23E-E7A3-4F30-9020-315365ED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9055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Step count changes by seed, but the policy reaches the goal every time.</a:t>
            </a:r>
          </a:p>
        </p:txBody>
      </p:sp>
    </p:spTree>
    <p:extLst>
      <p:ext uri="{BB962C8B-B14F-4D97-AF65-F5344CB8AC3E}">
        <p14:creationId xmlns:p14="http://schemas.microsoft.com/office/powerpoint/2010/main" val="10644875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4B7515-9D62-4FE8-BD53-92DB1D13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F87F09-9705-4AC1-9920-ACF33E6E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DC01CA-083D-4D2D-89AC-1A55B2F4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AF3DB-4B35-4204-9E43-3DAF8106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ADF68-7BF4-46C0-8133-E88D378E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47277-5778-4E62-BC9C-3BB06A55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Graphical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78986-34B7-475C-B228-E494A6AE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800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The saved best policy can be shown without retraining.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26075-8F8A-4E52-9DDA-E7FAAC60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5905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a25f14c902449b"/>
          <a:stretch xmlns:a="http://schemas.openxmlformats.org/drawingml/2006/main"/>
        </p:blipFill>
        <p:spPr>
          <a:xfrm xmlns:a="http://schemas.openxmlformats.org/drawingml/2006/main">
            <a:off x="1423988" y="2895600"/>
            <a:ext cx="4543425" cy="30289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B8670-03BB-4BF1-841A-68B1BAD8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384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Demo command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0F7B7-7B9D-481C-B844-3AC78330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766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23BE6-8947-433A-8AFE-114BFBD8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29000"/>
            <a:ext cx="312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12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python IMPL/visualize_best_solution.py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C4389-3A5E-4953-9E88-A18E11B7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862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Seed 2042 screenshot run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6771E-47B1-4E87-A0DE-593FEC49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838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6FBE8A-43F8-48A5-8545-62E1F418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7625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Steps to goal: 156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013FD8-11F5-44B0-B7D2-32C71A5B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05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9AE09-89B4-4004-AB65-94F13E5A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0292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Total reward: -156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97AD53-8797-4455-9366-47C49A5D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3721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59C0A0-F5CB-4C79-B9D7-42ABEDC5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2959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Progress bonus: 500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B39503-3877-492E-90AB-7697C62D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638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8610D9-4EC5-47F5-8944-434E9BBD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5626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Goal bonus: 200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B0C0A8-BA29-4BA7-BDC4-ADAA707F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9055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61E55D-00EC-4103-9FE7-A7A777E5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8293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Fitness: 544</a:t>
            </a:r>
          </a:p>
        </p:txBody>
      </p:sp>
    </p:spTree>
    <p:extLst>
      <p:ext uri="{BB962C8B-B14F-4D97-AF65-F5344CB8AC3E}">
        <p14:creationId xmlns:p14="http://schemas.microsoft.com/office/powerpoint/2010/main" val="2694971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614601-428E-4C3F-A8F5-BE922E98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6270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21CB19-835F-4ECD-BC90-A7246D11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3415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BIAI Project  |  Genetic Algorithm for MountainCar-v0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948E6-B87B-4056-B90C-93F2DE94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5151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518D3-10B8-40B2-9C8F-36D9776A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F6B7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F6B7A"/>
                </a:solidFill>
                <a:latin typeface="Arial"/>
                <a:ea typeface="Arial"/>
                <a:cs typeface="Arial"/>
              </a:rPr>
              <a:t>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19CC9-7BE6-4343-BFC9-74622448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4300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DAE2F-3693-4E9D-B7E1-0944F339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0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Conclusions And Future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42AFB-B1C9-4D20-94D7-DCDEA0EF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The Genetic Algorithm solves the selected graphical control problem.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936DD-5339-46C2-9192-01F6E67B1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Main conclusions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111A6-C7CB-4242-B228-9F871C1E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A286E8-20D7-428F-A036-C2E6AE9A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480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Policy tables can control MountainCar-v0 effectively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EB8A7-CD9E-44BC-AA27-A02241B0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272CE8-2734-49C1-8611-E87B7078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909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Progress-based fitness gives a better learning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CF31F-2BA2-4B56-A4E6-F156EDF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FB59BF-C965-4FB4-BDF6-90240128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Elitism preserves strong solutions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7EE712-D9EF-4231-8BBD-2B8A9CB4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603674-0C5F-4C7C-ABF8-87D293C3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767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Generation champion comparison improves result analysis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02BB1F-3935-4C19-83F7-06823F51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7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DB0B20-8843-4896-89B5-EEABD0DB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4533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final policy is robust across tested seeds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B9580A-2069-4E28-801B-C0C3D29A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643CCF-3B7A-4A69-8925-FA3C9993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EA7596-6237-436E-8A73-DFF0ECDE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48050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Test more seeds and repeated training runs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5CCEF-0BED-4EE8-81BD-326B0074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CF2AEC-63BD-4496-8ED4-97912E12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29050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Tune GA parameters more systematically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3249C1-0770-4744-8035-E04A9CC5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86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0B2271-BE0D-44C4-A632-BD2090C5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10050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Compare with Q-learning or neural methods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E99C41-24EA-4F71-936A-6A49956A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67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A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074A1B-59C7-4231-9AFA-C06F68C8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591050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Add video or GIF recording for presentation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0FBB08-9C24-4CF7-9355-B9C3BF2B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864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07376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73763"/>
                </a:solidFill>
                <a:latin typeface="Arial"/>
                <a:ea typeface="Arial"/>
                <a:cs typeface="Arial"/>
              </a:rPr>
              <a:t>Repository: https://github.com/Hyunseok-Cho/BIAI</a:t>
            </a:r>
          </a:p>
        </p:txBody>
      </p:sp>
    </p:spTree>
    <p:extLst>
      <p:ext uri="{BB962C8B-B14F-4D97-AF65-F5344CB8AC3E}">
        <p14:creationId xmlns:p14="http://schemas.microsoft.com/office/powerpoint/2010/main" val="1156894166"/>
      </p:ext>
    </p:extLst>
  </p:cSld>
</p:sld>
</file>

<file path=ppt/theme/theme1.xml><?xml version="1.0" encoding="utf-8"?>
<a:theme xmlns:a="http://schemas.openxmlformats.org/drawingml/2006/main" name="ChatGPT">
  <a:themeElements>
    <a:clrScheme name="Silesian Light">
      <a:dk1>
        <a:srgbClr val="000000"/>
      </a:dk1>
      <a:lt1>
        <a:srgbClr val="FFFFFF"/>
      </a:lt1>
      <a:dk2>
        <a:srgbClr val="073763"/>
      </a:dk2>
      <a:lt2>
        <a:srgbClr val="E5E7EB"/>
      </a:lt2>
      <a:accent1>
        <a:srgbClr val="005AA9"/>
      </a:accent1>
      <a:accent2>
        <a:srgbClr val="F2B705"/>
      </a:accent2>
      <a:accent3>
        <a:srgbClr val="073763"/>
      </a:accent3>
      <a:accent4>
        <a:srgbClr val="E30613"/>
      </a:accent4>
      <a:accent5>
        <a:srgbClr val="6B7280"/>
      </a:accent5>
      <a:accent6>
        <a:srgbClr val="16A34A"/>
      </a:accent6>
      <a:hlink>
        <a:srgbClr val="005AA9"/>
      </a:hlink>
      <a:folHlink>
        <a:srgbClr val="073763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ilesian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2026-06-23T06:30:57.5940000Z</dcterms:created>
  <dcterms:modified xsi:type="dcterms:W3CDTF">2026-06-23T06:30:57.5940000Z</dcterms:modified>
</coreProperties>
</file>