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41bb51f1bc04825" /><Relationship Type="http://schemas.openxmlformats.org/officeDocument/2006/relationships/extended-properties" Target="/docProps/app.xml" Id="R0f4f806702bc4ff5" /><Relationship Type="http://schemas.openxmlformats.org/officeDocument/2006/relationships/officeDocument" Target="/ppt/presentation.xml" Id="Rb9f352f9ab21419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626c9073a2b4bcf"/>
  </p:sldMasterIdLst>
  <p:notesMasterIdLst>
    <p:notesMasterId xmlns:r="http://schemas.openxmlformats.org/officeDocument/2006/relationships" r:id="R2f5409f22c334ab5"/>
  </p:notesMasterIdLst>
  <p:sldIdLst>
    <p:sldId xmlns:r="http://schemas.openxmlformats.org/officeDocument/2006/relationships" id="256" r:id="R7125890849824898"/>
    <p:sldId xmlns:r="http://schemas.openxmlformats.org/officeDocument/2006/relationships" id="257" r:id="R52691892a7f04384"/>
    <p:sldId xmlns:r="http://schemas.openxmlformats.org/officeDocument/2006/relationships" id="258" r:id="R7d7e8cd9af76430e"/>
    <p:sldId xmlns:r="http://schemas.openxmlformats.org/officeDocument/2006/relationships" id="259" r:id="R9455e4d0cb0f417d"/>
    <p:sldId xmlns:r="http://schemas.openxmlformats.org/officeDocument/2006/relationships" id="260" r:id="Ra9ee25751041403c"/>
    <p:sldId xmlns:r="http://schemas.openxmlformats.org/officeDocument/2006/relationships" id="261" r:id="Ra1f87c0c449e447e"/>
    <p:sldId xmlns:r="http://schemas.openxmlformats.org/officeDocument/2006/relationships" id="262" r:id="Re7e63691653440f3"/>
    <p:sldId xmlns:r="http://schemas.openxmlformats.org/officeDocument/2006/relationships" id="263" r:id="R0f3a66141df64d76"/>
    <p:sldId xmlns:r="http://schemas.openxmlformats.org/officeDocument/2006/relationships" id="264" r:id="R1734965920014699"/>
    <p:sldId xmlns:r="http://schemas.openxmlformats.org/officeDocument/2006/relationships" id="265" r:id="Ra10f818ddda44155"/>
    <p:sldId xmlns:r="http://schemas.openxmlformats.org/officeDocument/2006/relationships" id="266" r:id="R6cb2f3f12afa4589"/>
    <p:sldId xmlns:r="http://schemas.openxmlformats.org/officeDocument/2006/relationships" id="267" r:id="R5eb4a0c66b1b4375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8a64e2497b0475e" /><Relationship Type="http://schemas.openxmlformats.org/officeDocument/2006/relationships/slideMaster" Target="/ppt/slideMasters/slideMaster1.xml" Id="R1626c9073a2b4bcf" /><Relationship Type="http://schemas.openxmlformats.org/officeDocument/2006/relationships/notesMaster" Target="/ppt/notesMasters/notesMaster1.xml" Id="R2f5409f22c334ab5" /><Relationship Type="http://schemas.openxmlformats.org/officeDocument/2006/relationships/presProps" Target="/ppt/presProps.xml" Id="R51acbc3b84a74d3b" /><Relationship Type="http://schemas.openxmlformats.org/officeDocument/2006/relationships/tableStyles" Target="/ppt/tableStyles.xml" Id="R7a78aa7d657e47f5" /><Relationship Type="http://schemas.openxmlformats.org/officeDocument/2006/relationships/slide" Target="/ppt/slides/slide1.xml" Id="R7125890849824898" /><Relationship Type="http://schemas.openxmlformats.org/officeDocument/2006/relationships/slide" Target="/ppt/slides/slide2.xml" Id="R52691892a7f04384" /><Relationship Type="http://schemas.openxmlformats.org/officeDocument/2006/relationships/slide" Target="/ppt/slides/slide3.xml" Id="R7d7e8cd9af76430e" /><Relationship Type="http://schemas.openxmlformats.org/officeDocument/2006/relationships/slide" Target="/ppt/slides/slide4.xml" Id="R9455e4d0cb0f417d" /><Relationship Type="http://schemas.openxmlformats.org/officeDocument/2006/relationships/slide" Target="/ppt/slides/slide5.xml" Id="Ra9ee25751041403c" /><Relationship Type="http://schemas.openxmlformats.org/officeDocument/2006/relationships/slide" Target="/ppt/slides/slide6.xml" Id="Ra1f87c0c449e447e" /><Relationship Type="http://schemas.openxmlformats.org/officeDocument/2006/relationships/slide" Target="/ppt/slides/slide7.xml" Id="Re7e63691653440f3" /><Relationship Type="http://schemas.openxmlformats.org/officeDocument/2006/relationships/slide" Target="/ppt/slides/slide8.xml" Id="R0f3a66141df64d76" /><Relationship Type="http://schemas.openxmlformats.org/officeDocument/2006/relationships/slide" Target="/ppt/slides/slide9.xml" Id="R1734965920014699" /><Relationship Type="http://schemas.openxmlformats.org/officeDocument/2006/relationships/slide" Target="/ppt/slides/slide10.xml" Id="Ra10f818ddda44155" /><Relationship Type="http://schemas.openxmlformats.org/officeDocument/2006/relationships/slide" Target="/ppt/slides/slide11.xml" Id="R6cb2f3f12afa4589" /><Relationship Type="http://schemas.openxmlformats.org/officeDocument/2006/relationships/slide" Target="/ppt/slides/slide12.xml" Id="R5eb4a0c66b1b437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a1350be30b0412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8b6bd942f29479c" /><Relationship Type="http://schemas.openxmlformats.org/officeDocument/2006/relationships/notesMaster" Target="/ppt/notesMasters/notesMaster1.xml" Id="R164fd5e087184eb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b1d3943dae54cda" /><Relationship Type="http://schemas.openxmlformats.org/officeDocument/2006/relationships/notesMaster" Target="/ppt/notesMasters/notesMaster1.xml" Id="R1c29eef27d39425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a477c7bb6874e3d" /><Relationship Type="http://schemas.openxmlformats.org/officeDocument/2006/relationships/notesMaster" Target="/ppt/notesMasters/notesMaster1.xml" Id="Rf805ae5e516246b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8458933d7164beb" /><Relationship Type="http://schemas.openxmlformats.org/officeDocument/2006/relationships/notesMaster" Target="/ppt/notesMasters/notesMaster1.xml" Id="R3735910758b643b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b796f7ad1864cc9" /><Relationship Type="http://schemas.openxmlformats.org/officeDocument/2006/relationships/notesMaster" Target="/ppt/notesMasters/notesMaster1.xml" Id="R55f81387437541f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6d4239139954b65" /><Relationship Type="http://schemas.openxmlformats.org/officeDocument/2006/relationships/notesMaster" Target="/ppt/notesMasters/notesMaster1.xml" Id="R29202b3a51ee418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8121e70359041ad" /><Relationship Type="http://schemas.openxmlformats.org/officeDocument/2006/relationships/notesMaster" Target="/ppt/notesMasters/notesMaster1.xml" Id="R9e62caf4f8fb488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bde49211eb54503" /><Relationship Type="http://schemas.openxmlformats.org/officeDocument/2006/relationships/notesMaster" Target="/ppt/notesMasters/notesMaster1.xml" Id="R4ef36dc3747345f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ea688619d954765" /><Relationship Type="http://schemas.openxmlformats.org/officeDocument/2006/relationships/notesMaster" Target="/ppt/notesMasters/notesMaster1.xml" Id="R009c94636bc542f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3263914bee64125" /><Relationship Type="http://schemas.openxmlformats.org/officeDocument/2006/relationships/notesMaster" Target="/ppt/notesMasters/notesMaster1.xml" Id="R547427b2adf24cf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b0d897b55de4af6" /><Relationship Type="http://schemas.openxmlformats.org/officeDocument/2006/relationships/notesMaster" Target="/ppt/notesMasters/notesMaster1.xml" Id="R82066eeba0d14f4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86eae393cbe4618" /><Relationship Type="http://schemas.openxmlformats.org/officeDocument/2006/relationships/notesMaster" Target="/ppt/notesMasters/notesMaster1.xml" Id="Rb13e7c1a4139462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0467539ce69429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0be26725b1a4cb4" /><Relationship Type="http://schemas.openxmlformats.org/officeDocument/2006/relationships/slideLayout" Target="/ppt/slideLayouts/slideLayout1.xml" Id="R4b39bdb437ea488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b39bdb437ea488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799761e3424fe3" /><Relationship Type="http://schemas.openxmlformats.org/officeDocument/2006/relationships/image" Target="/ppt/media/image.png" Id="R8c5ce11d519a4bf3" /><Relationship Type="http://schemas.openxmlformats.org/officeDocument/2006/relationships/notesSlide" Target="/ppt/notesSlides/notesSlide1.xml" Id="R39487123dc0148e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5a7a7c3fe94fad" /><Relationship Type="http://schemas.openxmlformats.org/officeDocument/2006/relationships/notesSlide" Target="/ppt/notesSlides/notesSlide2.xml" Id="R5dc2ea78c82f420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1cbd39b0d2492d" /><Relationship Type="http://schemas.openxmlformats.org/officeDocument/2006/relationships/image" Target="/ppt/media/image2.png" Id="R73084e2cee18425b" /><Relationship Type="http://schemas.openxmlformats.org/officeDocument/2006/relationships/notesSlide" Target="/ppt/notesSlides/notesSlide3.xml" Id="Rdf209a541f3b4d2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d0e09090924a25" /><Relationship Type="http://schemas.openxmlformats.org/officeDocument/2006/relationships/notesSlide" Target="/ppt/notesSlides/notesSlide4.xml" Id="R85e21068540c4d2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5096f022fc458f" /><Relationship Type="http://schemas.openxmlformats.org/officeDocument/2006/relationships/notesSlide" Target="/ppt/notesSlides/notesSlide5.xml" Id="R7b99ebfa83ab411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037e3299834c4b" /><Relationship Type="http://schemas.openxmlformats.org/officeDocument/2006/relationships/notesSlide" Target="/ppt/notesSlides/notesSlide6.xml" Id="R088af527140b4e4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f99fce482e411d" /><Relationship Type="http://schemas.openxmlformats.org/officeDocument/2006/relationships/notesSlide" Target="/ppt/notesSlides/notesSlide7.xml" Id="R1d77899810bd45e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0f419eaf364259" /><Relationship Type="http://schemas.openxmlformats.org/officeDocument/2006/relationships/image" Target="/ppt/media/image3.png" Id="R97f3e58a8ecb4e54" /><Relationship Type="http://schemas.openxmlformats.org/officeDocument/2006/relationships/notesSlide" Target="/ppt/notesSlides/notesSlide8.xml" Id="Rdf994f72e51e46a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b0339c19eb4af3" /><Relationship Type="http://schemas.openxmlformats.org/officeDocument/2006/relationships/image" Target="/ppt/media/image4.png" Id="Ra5650e71565e4237" /><Relationship Type="http://schemas.openxmlformats.org/officeDocument/2006/relationships/image" Target="/ppt/media/image5.png" Id="Rf81f4122a9174988" /><Relationship Type="http://schemas.openxmlformats.org/officeDocument/2006/relationships/notesSlide" Target="/ppt/notesSlides/notesSlide9.xml" Id="Rdeeb064198494ba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83289d5994410e" /><Relationship Type="http://schemas.openxmlformats.org/officeDocument/2006/relationships/image" Target="/ppt/media/image6.png" Id="R6827c5130f134a55" /><Relationship Type="http://schemas.openxmlformats.org/officeDocument/2006/relationships/notesSlide" Target="/ppt/notesSlides/notesSlide10.xml" Id="Rf9f2dc183dcc4ac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671fc6f4c743f8" /><Relationship Type="http://schemas.openxmlformats.org/officeDocument/2006/relationships/image" Target="/ppt/media/image7.png" Id="Rb6dcd9c44ff3487e" /><Relationship Type="http://schemas.openxmlformats.org/officeDocument/2006/relationships/notesSlide" Target="/ppt/notesSlides/notesSlide11.xml" Id="R4dc39258c9f94baf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6142a5120a4770" /><Relationship Type="http://schemas.openxmlformats.org/officeDocument/2006/relationships/notesSlide" Target="/ppt/notesSlides/notesSlide12.xml" Id="Rd6a653870ed94e2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D695E05-F46B-4B0F-AE76-1A73012CB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00200"/>
            <a:ext cx="80962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111111"/>
                </a:solidFill>
              </a:defRPr>
            </a:pPr>
            <a:r>
              <a:rPr sz="4350" b="1">
                <a:solidFill>
                  <a:srgbClr val="111111"/>
                </a:solidFill>
              </a:rPr>
              <a:t>Genetic Algorithm</a:t>
            </a:r>
          </a:p>
          <a:p xmlns:a="http://schemas.openxmlformats.org/drawingml/2006/main">
            <a:pPr algn="l">
              <a:defRPr sz="4350" b="1">
                <a:solidFill>
                  <a:srgbClr val="111111"/>
                </a:solidFill>
              </a:defRPr>
            </a:pPr>
            <a:r>
              <a:rPr sz="4350" b="1">
                <a:solidFill>
                  <a:srgbClr val="111111"/>
                </a:solidFill>
              </a:rPr>
              <a:t>for MountainCar-v0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45FBD3-D197-4343-A008-4382A1F83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486150"/>
            <a:ext cx="5143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444444"/>
                </a:solidFill>
              </a:defRPr>
            </a:pPr>
            <a:r>
              <a:rPr sz="1800" b="0">
                <a:solidFill>
                  <a:srgbClr val="444444"/>
                </a:solidFill>
              </a:rPr>
              <a:t>BIAI Final Project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4B21F99-7092-4C3D-9134-91B12F5F0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905250"/>
            <a:ext cx="647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55555"/>
                </a:solidFill>
              </a:defRPr>
            </a:pPr>
            <a:r>
              <a:rPr sz="1500" b="0">
                <a:solidFill>
                  <a:srgbClr val="555555"/>
                </a:solidFill>
              </a:rPr>
              <a:t>Hyunseok Cho, Jakub Zajac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5B05D32-9331-4C82-81A4-4EBBF2B33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504950"/>
            <a:ext cx="28575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EEEEEE"/>
          </a:solidFill>
          <a:ln xmlns:a="http://schemas.openxmlformats.org/drawingml/2006/main" w="9525">
            <a:solidFill>
              <a:srgbClr val="E1E1E1"/>
            </a:solidFill>
            <a:prstDash val="solid"/>
          </a:ln>
        </p:spPr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c5ce11d519a4bf3"/>
          <a:srcRect xmlns:a="http://schemas.openxmlformats.org/drawingml/2006/main" l="16667" t="0" r="16667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667750" y="1600200"/>
            <a:ext cx="2667000" cy="26670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57155D-5DBD-416D-95FE-0F2F7085A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44300" y="6438900"/>
            <a:ext cx="266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6276863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917E014-552D-4C1B-BB13-AF927E608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00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</a:defRPr>
            </a:pPr>
            <a:r>
              <a:rPr sz="2850" b="1">
                <a:solidFill>
                  <a:srgbClr val="111111"/>
                </a:solidFill>
              </a:rPr>
              <a:t>Today's Agenda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A753BF-7502-4F88-9223-ACD41C428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838200"/>
            <a:ext cx="4953000" cy="342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111111"/>
                </a:solidFill>
              </a:defRPr>
            </a:pPr>
            <a:r>
              <a:rPr sz="2400" b="0">
                <a:solidFill>
                  <a:srgbClr val="111111"/>
                </a:solidFill>
              </a:rPr>
              <a:t>1. Project topic and environment</a:t>
            </a:r>
          </a:p>
          <a:p xmlns:a="http://schemas.openxmlformats.org/drawingml/2006/main">
            <a:pPr algn="l">
              <a:defRPr sz="2400" b="0">
                <a:solidFill>
                  <a:srgbClr val="111111"/>
                </a:solidFill>
              </a:defRPr>
            </a:pPr>
            <a:r>
              <a:rPr sz="2400" b="0">
                <a:solidFill>
                  <a:srgbClr val="111111"/>
                </a:solidFill>
              </a:rPr>
              <a:t>2. Genetic Algorithm design</a:t>
            </a:r>
          </a:p>
          <a:p xmlns:a="http://schemas.openxmlformats.org/drawingml/2006/main">
            <a:pPr algn="l">
              <a:defRPr sz="2400" b="0">
                <a:solidFill>
                  <a:srgbClr val="111111"/>
                </a:solidFill>
              </a:defRPr>
            </a:pPr>
            <a:r>
              <a:rPr sz="2400" b="0">
                <a:solidFill>
                  <a:srgbClr val="111111"/>
                </a:solidFill>
              </a:rPr>
              <a:t>3. Fitness function and policy representation</a:t>
            </a:r>
          </a:p>
          <a:p xmlns:a="http://schemas.openxmlformats.org/drawingml/2006/main">
            <a:pPr algn="l">
              <a:defRPr sz="2400" b="0">
                <a:solidFill>
                  <a:srgbClr val="111111"/>
                </a:solidFill>
              </a:defRPr>
            </a:pPr>
            <a:r>
              <a:rPr sz="2400" b="0">
                <a:solidFill>
                  <a:srgbClr val="111111"/>
                </a:solidFill>
              </a:rPr>
              <a:t>4. Implementation workflow</a:t>
            </a:r>
          </a:p>
          <a:p xmlns:a="http://schemas.openxmlformats.org/drawingml/2006/main">
            <a:pPr algn="l">
              <a:defRPr sz="2400" b="0">
                <a:solidFill>
                  <a:srgbClr val="111111"/>
                </a:solidFill>
              </a:defRPr>
            </a:pPr>
            <a:r>
              <a:rPr sz="2400" b="0">
                <a:solidFill>
                  <a:srgbClr val="111111"/>
                </a:solidFill>
              </a:rPr>
              <a:t>5. Experimental results</a:t>
            </a:r>
          </a:p>
          <a:p xmlns:a="http://schemas.openxmlformats.org/drawingml/2006/main">
            <a:pPr algn="l">
              <a:defRPr sz="2400" b="0">
                <a:solidFill>
                  <a:srgbClr val="111111"/>
                </a:solidFill>
              </a:defRPr>
            </a:pPr>
            <a:r>
              <a:rPr sz="2400" b="0">
                <a:solidFill>
                  <a:srgbClr val="111111"/>
                </a:solidFill>
              </a:rPr>
              <a:t>6. Conclusions and future work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7F5807F-E72A-442F-8E7C-83456759A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44300" y="6438900"/>
            <a:ext cx="266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61417978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929B3CD-91B9-4D96-825C-87F47D022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00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</a:defRPr>
            </a:pPr>
            <a:r>
              <a:rPr sz="2850" b="1">
                <a:solidFill>
                  <a:srgbClr val="111111"/>
                </a:solidFill>
              </a:rPr>
              <a:t>Problem: Reach The MountainCar Goal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2A23A75-18C7-46E2-B487-FDFFB0321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952500"/>
            <a:ext cx="914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The car must build momentum because direct acceleration is not enough.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FDA34BB-87E9-43FF-BA35-0A4CEA873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19250"/>
            <a:ext cx="4762500" cy="247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111"/>
                </a:solidFill>
              </a:defRPr>
            </a:pPr>
            <a:r>
              <a:rPr sz="1800" b="0">
                <a:solidFill>
                  <a:srgbClr val="111111"/>
                </a:solidFill>
              </a:rPr>
              <a:t>- Observation: position and velocity</a:t>
            </a:r>
          </a:p>
          <a:p xmlns:a="http://schemas.openxmlformats.org/drawingml/2006/main">
            <a:pPr algn="l">
              <a:defRPr sz="1800" b="0">
                <a:solidFill>
                  <a:srgbClr val="111111"/>
                </a:solidFill>
              </a:defRPr>
            </a:pPr>
            <a:r>
              <a:rPr sz="1800" b="0">
                <a:solidFill>
                  <a:srgbClr val="111111"/>
                </a:solidFill>
              </a:rPr>
              <a:t>- Actions: accelerate left, do nothing, accelerate right</a:t>
            </a:r>
          </a:p>
          <a:p xmlns:a="http://schemas.openxmlformats.org/drawingml/2006/main">
            <a:pPr algn="l">
              <a:defRPr sz="1800" b="0">
                <a:solidFill>
                  <a:srgbClr val="111111"/>
                </a:solidFill>
              </a:defRPr>
            </a:pPr>
            <a:r>
              <a:rPr sz="1800" b="0">
                <a:solidFill>
                  <a:srgbClr val="111111"/>
                </a:solidFill>
              </a:rPr>
              <a:t>- Reward: -1 for every time step</a:t>
            </a:r>
          </a:p>
          <a:p xmlns:a="http://schemas.openxmlformats.org/drawingml/2006/main">
            <a:pPr algn="l">
              <a:defRPr sz="1800" b="0">
                <a:solidFill>
                  <a:srgbClr val="111111"/>
                </a:solidFill>
              </a:defRPr>
            </a:pPr>
            <a:r>
              <a:rPr sz="1800" b="0">
                <a:solidFill>
                  <a:srgbClr val="111111"/>
                </a:solidFill>
              </a:rPr>
              <a:t>- Goal: reach the flag in as few steps as possible</a:t>
            </a:r>
          </a:p>
        </p:txBody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3084e2cee18425b"/>
          <a:stretch xmlns:a="http://schemas.openxmlformats.org/drawingml/2006/main"/>
        </p:blipFill>
        <p:spPr>
          <a:xfrm xmlns:a="http://schemas.openxmlformats.org/drawingml/2006/main">
            <a:off x="6191250" y="1466850"/>
            <a:ext cx="5143500" cy="34290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A7030A-5A7E-4670-9BBF-2DBD593E3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5105400"/>
            <a:ext cx="533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Visual proof: the saved policy reaches the goal area without retraining.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438C21-21EB-483F-80ED-709513A21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44300" y="6438900"/>
            <a:ext cx="266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46841738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3DB2A70-6D00-4C88-8803-81BFB366B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00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</a:defRPr>
            </a:pPr>
            <a:r>
              <a:rPr sz="2850" b="1">
                <a:solidFill>
                  <a:srgbClr val="111111"/>
                </a:solidFill>
              </a:rPr>
              <a:t>Why A Genetic Algorithm?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9F2C29A-F6C4-4511-8D25-DA2E074AD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952500"/>
            <a:ext cx="914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We evolve policies directly instead of learning gradients.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E0F222F-8F4C-46F5-A448-3825534BA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428750"/>
            <a:ext cx="7486650" cy="12192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EFEFEF"/>
          </a:solidFill>
          <a:ln xmlns:a="http://schemas.openxmlformats.org/drawingml/2006/main" w="9525">
            <a:solidFill>
              <a:srgbClr val="E1E1E1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38AB41C-6FC2-44EE-A322-C8674105C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914650"/>
            <a:ext cx="7486650" cy="12192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EFEFEF"/>
          </a:solidFill>
          <a:ln xmlns:a="http://schemas.openxmlformats.org/drawingml/2006/main" w="9525">
            <a:solidFill>
              <a:srgbClr val="E1E1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4A5C61-4F66-4C1D-BB10-D80A845E6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400550"/>
            <a:ext cx="7486650" cy="12192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EFEFEF"/>
          </a:solidFill>
          <a:ln xmlns:a="http://schemas.openxmlformats.org/drawingml/2006/main" w="9525">
            <a:solidFill>
              <a:srgbClr val="E1E1E1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67CBCA-9478-4611-B3BA-D4E77694B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1657350"/>
            <a:ext cx="628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Fits the course objective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F9AF04D-8B12-4F74-B532-C08DF844E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2095500"/>
            <a:ext cx="6381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111"/>
                </a:solidFill>
              </a:defRPr>
            </a:pPr>
            <a:r>
              <a:rPr sz="1500" b="0">
                <a:solidFill>
                  <a:srgbClr val="111111"/>
                </a:solidFill>
              </a:rPr>
              <a:t>The project demonstrates selection, crossover, mutation, elitism, and generations.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A2546BA-CBC0-489E-B6A7-173D8EEBF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3143250"/>
            <a:ext cx="628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Simple policy representation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64FEC97-D960-4F72-9785-FF428BACB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3581400"/>
            <a:ext cx="6381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111"/>
                </a:solidFill>
              </a:defRPr>
            </a:pPr>
            <a:r>
              <a:rPr sz="1500" b="0">
                <a:solidFill>
                  <a:srgbClr val="111111"/>
                </a:solidFill>
              </a:rPr>
              <a:t>A chromosome is a policy table, so every individual is a complete controller.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5247AFE-B3F9-4DE1-ABA9-382728E92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4629150"/>
            <a:ext cx="628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Easy to compare generations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341420D-AC5C-4994-989B-A9749D4A9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5067300"/>
            <a:ext cx="6381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111"/>
                </a:solidFill>
              </a:defRPr>
            </a:pPr>
            <a:r>
              <a:rPr sz="1500" b="0">
                <a:solidFill>
                  <a:srgbClr val="111111"/>
                </a:solidFill>
              </a:rPr>
              <a:t>Each generation champion is saved and validated under the same seed set.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5E14F0C-C7A4-4B46-8DD0-638A4DE1F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048250"/>
            <a:ext cx="3238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444444"/>
                </a:solidFill>
              </a:defRPr>
            </a:pPr>
            <a:r>
              <a:rPr sz="1650" b="0">
                <a:solidFill>
                  <a:srgbClr val="444444"/>
                </a:solidFill>
              </a:rPr>
              <a:t>Selected over random search because GA improves the population systematically.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1112D03-BB7A-448E-9ADA-6BDAB9EAC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44300" y="6438900"/>
            <a:ext cx="266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07552692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0A1E97D-67F2-45A5-9FA4-CFF597849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00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</a:defRPr>
            </a:pPr>
            <a:r>
              <a:rPr sz="2850" b="1">
                <a:solidFill>
                  <a:srgbClr val="111111"/>
                </a:solidFill>
              </a:rPr>
              <a:t>Policy Representation And Fitness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DFDC147-1D01-4829-8AAF-04F43BDA3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952500"/>
            <a:ext cx="914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The policy table maps discretized states to actions.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FEF876-EB8B-4201-87B1-EBD7226CC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24000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State discretization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E29CD5D-4C4C-4733-A545-6AC9EAFD3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924050"/>
            <a:ext cx="4953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20 position bins x 20 velocity bins = 400 genes</a:t>
            </a:r>
          </a:p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Each gene stores action 0, 1, or 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DD6914E-AAE1-42FC-9DFD-810BD94B9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19450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Fitness formula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9BC776-BBD3-48CB-9402-6B4255613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76650"/>
            <a:ext cx="495300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EFEFEF"/>
          </a:solidFill>
          <a:ln xmlns:a="http://schemas.openxmlformats.org/drawingml/2006/main" w="9525">
            <a:solidFill>
              <a:srgbClr val="E1E1E1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D8F8882-6340-45F7-A17D-0F502F36C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4335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111"/>
                </a:solidFill>
              </a:defRPr>
            </a:pPr>
            <a:r>
              <a:rPr sz="1650" b="1">
                <a:solidFill>
                  <a:srgbClr val="111111"/>
                </a:solidFill>
              </a:rPr>
              <a:t>fitness = total_reward + progress_bonus + goal_bonus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25E6434-CB4A-4E51-AE33-7FC2F1108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1524000"/>
            <a:ext cx="342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Why it matters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EDC150-4BBA-4481-B4C9-6AA95A28E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1924050"/>
            <a:ext cx="49530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- Raw reward alone makes many failed policies look similar</a:t>
            </a:r>
          </a:p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- Progress bonus rewards movement toward the goal</a:t>
            </a:r>
          </a:p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- Goal bonus rewards actual success</a:t>
            </a:r>
          </a:p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- Fewer steps still produce better total reward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C26EB26-2DC2-4AA4-8488-6AD212AF3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4629150"/>
            <a:ext cx="4762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444444"/>
                </a:solidFill>
              </a:defRPr>
            </a:pPr>
            <a:r>
              <a:rPr sz="1650" b="0">
                <a:solidFill>
                  <a:srgbClr val="444444"/>
                </a:solidFill>
              </a:rPr>
              <a:t>Example: a failed policy with strong progress can score higher than a failed policy that barely moves.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2D554B7-1AA0-425F-BDD5-36C36D44F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44300" y="6438900"/>
            <a:ext cx="266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31881901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4F6DDF1-5C9B-485C-94D4-32762F5B4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00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</a:defRPr>
            </a:pPr>
            <a:r>
              <a:rPr sz="2850" b="1">
                <a:solidFill>
                  <a:srgbClr val="111111"/>
                </a:solidFill>
              </a:rPr>
              <a:t>Main Algorithm Workflow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6BB2282-099D-48ED-87F1-1E189E59A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952500"/>
            <a:ext cx="914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The detailed report contains the full flowchart; this slide shows the presentation version.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A8EBBC7-F354-4E14-B7A2-D2F1295F0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19250"/>
            <a:ext cx="314325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EFEFEF"/>
          </a:solidFill>
          <a:ln xmlns:a="http://schemas.openxmlformats.org/drawingml/2006/main" w="9525">
            <a:solidFill>
              <a:srgbClr val="E1E1E1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7D4FDA-B88D-4033-BB0C-C9CFD35D1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847850"/>
            <a:ext cx="419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11111"/>
                </a:solidFill>
              </a:defRPr>
            </a:pPr>
            <a:r>
              <a:rPr sz="2250" b="1">
                <a:solidFill>
                  <a:srgbClr val="111111"/>
                </a:solidFill>
              </a:rPr>
              <a:t>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9BC3EFB-D262-448F-8FF1-18E9BEF2A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1885950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Create population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0DB314D-7166-46BC-A772-C7BD1046F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2324100"/>
            <a:ext cx="209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444444"/>
                </a:solidFill>
              </a:defRPr>
            </a:pPr>
            <a:r>
              <a:rPr sz="1425" b="0">
                <a:solidFill>
                  <a:srgbClr val="444444"/>
                </a:solidFill>
              </a:rPr>
              <a:t>80 random policy tables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C552339-C31B-450B-93FF-20DA83D29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619250"/>
            <a:ext cx="314325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EFEFEF"/>
          </a:solidFill>
          <a:ln xmlns:a="http://schemas.openxmlformats.org/drawingml/2006/main" w="9525">
            <a:solidFill>
              <a:srgbClr val="E1E1E1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F886639-D437-490D-B5E5-9A72646E4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1847850"/>
            <a:ext cx="419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11111"/>
                </a:solidFill>
              </a:defRPr>
            </a:pPr>
            <a:r>
              <a:rPr sz="2250" b="1">
                <a:solidFill>
                  <a:srgbClr val="111111"/>
                </a:solidFill>
              </a:rPr>
              <a:t>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FD25A9-0319-4219-9368-2B3C6B47D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1885950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Evaluate policies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A716A7E-4F14-44F4-9C88-055734E07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2324100"/>
            <a:ext cx="209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444444"/>
                </a:solidFill>
              </a:defRPr>
            </a:pPr>
            <a:r>
              <a:rPr sz="1425" b="0">
                <a:solidFill>
                  <a:srgbClr val="444444"/>
                </a:solidFill>
              </a:rPr>
              <a:t>Run each policy in MountainCar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E873410-80EB-4EEF-AFBD-AABF3E3CE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1619250"/>
            <a:ext cx="314325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EFEFEF"/>
          </a:solidFill>
          <a:ln xmlns:a="http://schemas.openxmlformats.org/drawingml/2006/main" w="9525">
            <a:solidFill>
              <a:srgbClr val="E1E1E1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7F76CC7-BBDF-4E20-942C-525D02E24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847850"/>
            <a:ext cx="419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11111"/>
                </a:solidFill>
              </a:defRPr>
            </a:pPr>
            <a:r>
              <a:rPr sz="2250" b="1">
                <a:solidFill>
                  <a:srgbClr val="111111"/>
                </a:solidFill>
              </a:rPr>
              <a:t>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D90B19B-B3FB-482C-BADA-96FDC2262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885950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Calculate fitness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37EC76A-74B0-4507-8B44-C6FA220D6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324100"/>
            <a:ext cx="209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444444"/>
                </a:solidFill>
              </a:defRPr>
            </a:pPr>
            <a:r>
              <a:rPr sz="1425" b="0">
                <a:solidFill>
                  <a:srgbClr val="444444"/>
                </a:solidFill>
              </a:rPr>
              <a:t>Reward + progress + goal bonus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733D56B-D41C-416A-B6F8-2AB881DE4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48100"/>
            <a:ext cx="314325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EFEFEF"/>
          </a:solidFill>
          <a:ln xmlns:a="http://schemas.openxmlformats.org/drawingml/2006/main" w="9525">
            <a:solidFill>
              <a:srgbClr val="E1E1E1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357215B-F783-4707-8743-4F58B94BC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076700"/>
            <a:ext cx="419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11111"/>
                </a:solidFill>
              </a:defRPr>
            </a:pPr>
            <a:r>
              <a:rPr sz="2250" b="1">
                <a:solidFill>
                  <a:srgbClr val="111111"/>
                </a:solidFill>
              </a:rPr>
              <a:t>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FE77809-24F1-4964-A4EC-07E9A2FD1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4114800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Preserve elites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CF70FC1-81F2-49AA-A306-40687D738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4552950"/>
            <a:ext cx="209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444444"/>
                </a:solidFill>
              </a:defRPr>
            </a:pPr>
            <a:r>
              <a:rPr sz="1425" b="0">
                <a:solidFill>
                  <a:srgbClr val="444444"/>
                </a:solidFill>
              </a:rPr>
              <a:t>Copy top 6 policies directly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E17E530-9B29-4116-9940-F98423504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848100"/>
            <a:ext cx="314325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EFEFEF"/>
          </a:solidFill>
          <a:ln xmlns:a="http://schemas.openxmlformats.org/drawingml/2006/main" w="9525">
            <a:solidFill>
              <a:srgbClr val="E1E1E1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0DC27C9-4237-48FE-99C8-FFEC8FA50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076700"/>
            <a:ext cx="419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11111"/>
                </a:solidFill>
              </a:defRPr>
            </a:pPr>
            <a:r>
              <a:rPr sz="2250" b="1">
                <a:solidFill>
                  <a:srgbClr val="111111"/>
                </a:solidFill>
              </a:rPr>
              <a:t>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C43BE11-3515-425B-A817-4484B2D2B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4114800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Reproduce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EC0CEFD-4917-4579-A062-CB10A1708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4552950"/>
            <a:ext cx="209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444444"/>
                </a:solidFill>
              </a:defRPr>
            </a:pPr>
            <a:r>
              <a:rPr sz="1425" b="0">
                <a:solidFill>
                  <a:srgbClr val="444444"/>
                </a:solidFill>
              </a:rPr>
              <a:t>Tournament selection, crossover, mutation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8D152F7-557F-4B75-A56A-E37014407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848100"/>
            <a:ext cx="314325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EFEFEF"/>
          </a:solidFill>
          <a:ln xmlns:a="http://schemas.openxmlformats.org/drawingml/2006/main" w="9525">
            <a:solidFill>
              <a:srgbClr val="E1E1E1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488757C-8A2E-499F-8BF7-2BC4009B4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076700"/>
            <a:ext cx="419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11111"/>
                </a:solidFill>
              </a:defRPr>
            </a:pPr>
            <a:r>
              <a:rPr sz="2250" b="1">
                <a:solidFill>
                  <a:srgbClr val="111111"/>
                </a:solidFill>
              </a:rPr>
              <a:t>6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1FA3DCD-6F8D-45C9-A6FB-AAD3C16C6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114800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Repeat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2161A1D-7F65-4E83-ACDB-BB388E591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552950"/>
            <a:ext cx="209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444444"/>
                </a:solidFill>
              </a:defRPr>
            </a:pPr>
            <a:r>
              <a:rPr sz="1425" b="0">
                <a:solidFill>
                  <a:srgbClr val="444444"/>
                </a:solidFill>
              </a:rPr>
              <a:t>Build the next generation up to 60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8960415-9AE4-4867-B52E-D4875DF3B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810250"/>
            <a:ext cx="9334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444444"/>
                </a:solidFill>
              </a:defRPr>
            </a:pPr>
            <a:r>
              <a:rPr sz="1650" b="0">
                <a:solidFill>
                  <a:srgbClr val="444444"/>
                </a:solidFill>
              </a:rPr>
              <a:t>Saved during training: generation champions, overall best policy, CSV metrics, and plots.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25F7BFA-6268-442D-A9AF-C429458EF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44300" y="6438900"/>
            <a:ext cx="266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93855514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98BC8E3-866C-45E2-83FE-D2CD47406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00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</a:defRPr>
            </a:pPr>
            <a:r>
              <a:rPr sz="2850" b="1">
                <a:solidFill>
                  <a:srgbClr val="111111"/>
                </a:solidFill>
              </a:rPr>
              <a:t>Implementation Overview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477760-7FFB-4B34-807A-670464BDE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952500"/>
            <a:ext cx="914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The repository is organized for final submission.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4E50385-1149-405D-973E-597A8C465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00200"/>
            <a:ext cx="2857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111"/>
                </a:solidFill>
              </a:defRPr>
            </a:pPr>
            <a:r>
              <a:rPr sz="2100" b="1">
                <a:solidFill>
                  <a:srgbClr val="111111"/>
                </a:solidFill>
              </a:rPr>
              <a:t>IMPL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B9CD9E9-D986-4921-8367-077D612AD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95500"/>
            <a:ext cx="3048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- mountain_car_ga.py</a:t>
            </a:r>
          </a:p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- visualize_best_solution.py</a:t>
            </a:r>
          </a:p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- requirements.txt</a:t>
            </a:r>
          </a:p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- README.md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172393C-9735-4E98-85D1-5BA73E9D8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1600200"/>
            <a:ext cx="2857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111"/>
                </a:solidFill>
              </a:defRPr>
            </a:pPr>
            <a:r>
              <a:rPr sz="2100" b="1">
                <a:solidFill>
                  <a:srgbClr val="111111"/>
                </a:solidFill>
              </a:rPr>
              <a:t>DATA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DE19D1C-46EB-4D82-AA4A-3B73C489E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095500"/>
            <a:ext cx="31432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- CSV results</a:t>
            </a:r>
          </a:p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- training and validation plots</a:t>
            </a:r>
          </a:p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- best_individual.npy</a:t>
            </a:r>
          </a:p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- generation champions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9841451-FA62-416F-BBA3-14DBC9DCE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1600200"/>
            <a:ext cx="2857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111"/>
                </a:solidFill>
              </a:defRPr>
            </a:pPr>
            <a:r>
              <a:rPr sz="2100" b="1">
                <a:solidFill>
                  <a:srgbClr val="111111"/>
                </a:solidFill>
              </a:rPr>
              <a:t>DOC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14B0481-3FF3-4405-B12E-CD6CF2DAA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095500"/>
            <a:ext cx="3048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- final report</a:t>
            </a:r>
          </a:p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- task reports</a:t>
            </a:r>
          </a:p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- algorithm details</a:t>
            </a:r>
          </a:p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- presentation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6C81A97-747F-4985-9A3F-837A9E7DD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9575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0F4C375-1AC8-419D-B56D-734C80411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38650"/>
            <a:ext cx="857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Run from project root: python IMPL/mountain_car_ga.py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5A675DE-4913-4809-9FF6-3FC20D0E3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76800"/>
            <a:ext cx="7620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55555"/>
                </a:solidFill>
              </a:defRPr>
            </a:pPr>
            <a:r>
              <a:rPr sz="1650" b="0">
                <a:solidFill>
                  <a:srgbClr val="555555"/>
                </a:solidFill>
              </a:rPr>
              <a:t>All generated outputs are saved under DATA/.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8BCACD5-BF7F-4828-AC1A-EB9784A75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44300" y="6438900"/>
            <a:ext cx="266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127323171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D74ECF9-89C7-4B4F-A22F-65C0BF46F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00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</a:defRPr>
            </a:pPr>
            <a:r>
              <a:rPr sz="2850" b="1">
                <a:solidFill>
                  <a:srgbClr val="111111"/>
                </a:solidFill>
              </a:rPr>
              <a:t>Experiment 1: Training Progress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01DD12-1C8B-4457-A11E-7430297C7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952500"/>
            <a:ext cx="914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Fitness improves strongly over generations.</a:t>
            </a:r>
          </a:p>
        </p:txBody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7f3e58a8ecb4e54"/>
          <a:stretch xmlns:a="http://schemas.openxmlformats.org/drawingml/2006/main"/>
        </p:blipFill>
        <p:spPr>
          <a:xfrm xmlns:a="http://schemas.openxmlformats.org/drawingml/2006/main">
            <a:off x="1314450" y="1314450"/>
            <a:ext cx="5943600" cy="44577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739E1BD-6323-4CC6-8DC8-DC401F7FA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1543050"/>
            <a:ext cx="276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11111"/>
                </a:solidFill>
              </a:defRPr>
            </a:pPr>
            <a:r>
              <a:rPr sz="1950" b="1">
                <a:solidFill>
                  <a:srgbClr val="111111"/>
                </a:solidFill>
              </a:rPr>
              <a:t>Key values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2686005-486A-4756-AF50-FC80490D8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038350"/>
            <a:ext cx="29527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111"/>
                </a:solidFill>
              </a:defRPr>
            </a:pPr>
            <a:r>
              <a:rPr sz="1725" b="0">
                <a:solidFill>
                  <a:srgbClr val="111111"/>
                </a:solidFill>
              </a:rPr>
              <a:t>Gen 1 best: 19.78</a:t>
            </a:r>
          </a:p>
          <a:p xmlns:a="http://schemas.openxmlformats.org/drawingml/2006/main">
            <a:pPr algn="l">
              <a:defRPr sz="1725" b="0">
                <a:solidFill>
                  <a:srgbClr val="111111"/>
                </a:solidFill>
              </a:defRPr>
            </a:pPr>
            <a:r>
              <a:rPr sz="1725" b="0">
                <a:solidFill>
                  <a:srgbClr val="111111"/>
                </a:solidFill>
              </a:rPr>
              <a:t>Gen 56 best: 574.67</a:t>
            </a:r>
          </a:p>
          <a:p xmlns:a="http://schemas.openxmlformats.org/drawingml/2006/main">
            <a:pPr algn="l">
              <a:defRPr sz="1725" b="0">
                <a:solidFill>
                  <a:srgbClr val="111111"/>
                </a:solidFill>
              </a:defRPr>
            </a:pPr>
            <a:r>
              <a:rPr sz="1725" b="0">
                <a:solidFill>
                  <a:srgbClr val="111111"/>
                </a:solidFill>
              </a:rPr>
              <a:t>Gen 60 best: 572.00</a:t>
            </a:r>
          </a:p>
          <a:p xmlns:a="http://schemas.openxmlformats.org/drawingml/2006/main">
            <a:pPr algn="l">
              <a:defRPr sz="1725" b="0">
                <a:solidFill>
                  <a:srgbClr val="111111"/>
                </a:solidFill>
              </a:defRPr>
            </a:pPr>
            <a:r>
              <a:rPr sz="1725" b="0">
                <a:solidFill>
                  <a:srgbClr val="111111"/>
                </a:solidFill>
              </a:rPr>
              <a:t>Final overall best: 574.67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CD2848C-A19D-4C01-8558-7AB8B3743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095750"/>
            <a:ext cx="2857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444444"/>
                </a:solidFill>
              </a:defRPr>
            </a:pPr>
            <a:r>
              <a:rPr sz="1650" b="0">
                <a:solidFill>
                  <a:srgbClr val="444444"/>
                </a:solidFill>
              </a:rPr>
              <a:t>Conclusion: the population moves from mostly random behavior to successful policies.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692A39-F190-470B-A405-165471288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44300" y="6438900"/>
            <a:ext cx="266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37659694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BA876DE-2115-4F2F-AB4F-BB7DEBF32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00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</a:defRPr>
            </a:pPr>
            <a:r>
              <a:rPr sz="2850" b="1">
                <a:solidFill>
                  <a:srgbClr val="111111"/>
                </a:solidFill>
              </a:rPr>
              <a:t>Experiment 2: Generation Champion Comparison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5EFA54-0D70-44B9-A1A4-5F6069073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952500"/>
            <a:ext cx="914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Each generation best policy is re-tested using the same validation seeds.</a:t>
            </a:r>
          </a:p>
        </p:txBody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5650e71565e4237"/>
          <a:stretch xmlns:a="http://schemas.openxmlformats.org/drawingml/2006/main"/>
        </p:blipFill>
        <p:spPr>
          <a:xfrm xmlns:a="http://schemas.openxmlformats.org/drawingml/2006/main">
            <a:off x="723900" y="1333500"/>
            <a:ext cx="4800600" cy="2400300"/>
          </a:xfrm>
          <a:prstGeom xmlns:a="http://schemas.openxmlformats.org/drawingml/2006/main" prst="rect">
            <a:avLst/>
          </a:prstGeom>
        </p:spPr>
      </p:pic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1f4122a9174988"/>
          <a:stretch xmlns:a="http://schemas.openxmlformats.org/drawingml/2006/main"/>
        </p:blipFill>
        <p:spPr>
          <a:xfrm xmlns:a="http://schemas.openxmlformats.org/drawingml/2006/main">
            <a:off x="933450" y="3867150"/>
            <a:ext cx="4381500" cy="21907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76B4CAE-AF5E-48EB-A9A6-BECF81FBA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15430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11111"/>
                </a:solidFill>
              </a:defRPr>
            </a:pPr>
            <a:r>
              <a:rPr sz="1950" b="1">
                <a:solidFill>
                  <a:srgbClr val="111111"/>
                </a:solidFill>
              </a:rPr>
              <a:t>Validation highlights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FA16289-4DEE-43DA-A07E-EF0D3C576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095500"/>
            <a:ext cx="4762500" cy="1371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111"/>
                </a:solidFill>
              </a:defRPr>
            </a:pPr>
            <a:r>
              <a:rPr sz="1725" b="0">
                <a:solidFill>
                  <a:srgbClr val="111111"/>
                </a:solidFill>
              </a:rPr>
              <a:t>Generation 1: 0% success</a:t>
            </a:r>
          </a:p>
          <a:p xmlns:a="http://schemas.openxmlformats.org/drawingml/2006/main">
            <a:pPr algn="l">
              <a:defRPr sz="1725" b="0">
                <a:solidFill>
                  <a:srgbClr val="111111"/>
                </a:solidFill>
              </a:defRPr>
            </a:pPr>
            <a:r>
              <a:rPr sz="1725" b="0">
                <a:solidFill>
                  <a:srgbClr val="111111"/>
                </a:solidFill>
              </a:rPr>
              <a:t>Generation 55: 100% success, avg fitness 560.20</a:t>
            </a:r>
          </a:p>
          <a:p xmlns:a="http://schemas.openxmlformats.org/drawingml/2006/main">
            <a:pPr algn="l">
              <a:defRPr sz="1725" b="0">
                <a:solidFill>
                  <a:srgbClr val="111111"/>
                </a:solidFill>
              </a:defRPr>
            </a:pPr>
            <a:r>
              <a:rPr sz="1725" b="0">
                <a:solidFill>
                  <a:srgbClr val="111111"/>
                </a:solidFill>
              </a:rPr>
              <a:t>Generation 60: 100% success, avg fitness 558.80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695A61A-C469-4621-88E4-84E4E2BB9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095750"/>
            <a:ext cx="4572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444444"/>
                </a:solidFill>
              </a:defRPr>
            </a:pPr>
            <a:r>
              <a:rPr sz="1650" b="0">
                <a:solidFill>
                  <a:srgbClr val="444444"/>
                </a:solidFill>
              </a:rPr>
              <a:t>Conclusion: the last generation is strong, but saving every champion lets us identify the best validated policy.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06EF072-7A3B-4CCF-A79E-0C91BAF8B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44300" y="6438900"/>
            <a:ext cx="266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90257505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8CE5E91-8E5C-495A-938E-FD6484D35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00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</a:defRPr>
            </a:pPr>
            <a:r>
              <a:rPr sz="2850" b="1">
                <a:solidFill>
                  <a:srgbClr val="111111"/>
                </a:solidFill>
              </a:rPr>
              <a:t>Experiment 3: Randomization Effects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BE507F4-8324-49D1-BC54-D6B4F9D24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952500"/>
            <a:ext cx="914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The final policy was tested under 20 different reset seeds.</a:t>
            </a:r>
          </a:p>
        </p:txBody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827c5130f134a55"/>
          <a:stretch xmlns:a="http://schemas.openxmlformats.org/drawingml/2006/main"/>
        </p:blipFill>
        <p:spPr>
          <a:xfrm xmlns:a="http://schemas.openxmlformats.org/drawingml/2006/main">
            <a:off x="738188" y="1314450"/>
            <a:ext cx="6715125" cy="4476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8659DB-B87B-4384-BD18-4F292BEF0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152400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11111"/>
                </a:solidFill>
              </a:defRPr>
            </a:pPr>
            <a:r>
              <a:rPr sz="1950" b="1">
                <a:solidFill>
                  <a:srgbClr val="111111"/>
                </a:solidFill>
              </a:rPr>
              <a:t>Result summary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5EE945-BA42-4F65-ADC3-8251659EB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057400"/>
            <a:ext cx="314325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111"/>
                </a:solidFill>
              </a:defRPr>
            </a:pPr>
            <a:r>
              <a:rPr sz="1725" b="0">
                <a:solidFill>
                  <a:srgbClr val="111111"/>
                </a:solidFill>
              </a:rPr>
              <a:t>20 / 20 trials reached the goal</a:t>
            </a:r>
          </a:p>
          <a:p xmlns:a="http://schemas.openxmlformats.org/drawingml/2006/main">
            <a:pPr algn="l">
              <a:defRPr sz="1725" b="0">
                <a:solidFill>
                  <a:srgbClr val="111111"/>
                </a:solidFill>
              </a:defRPr>
            </a:pPr>
            <a:r>
              <a:rPr sz="1725" b="0">
                <a:solidFill>
                  <a:srgbClr val="111111"/>
                </a:solidFill>
              </a:rPr>
              <a:t>Average reward: -150.10</a:t>
            </a:r>
          </a:p>
          <a:p xmlns:a="http://schemas.openxmlformats.org/drawingml/2006/main">
            <a:pPr algn="l">
              <a:defRPr sz="1725" b="0">
                <a:solidFill>
                  <a:srgbClr val="111111"/>
                </a:solidFill>
              </a:defRPr>
            </a:pPr>
            <a:r>
              <a:rPr sz="1725" b="0">
                <a:solidFill>
                  <a:srgbClr val="111111"/>
                </a:solidFill>
              </a:rPr>
              <a:t>Best reward: -125</a:t>
            </a:r>
          </a:p>
          <a:p xmlns:a="http://schemas.openxmlformats.org/drawingml/2006/main">
            <a:pPr algn="l">
              <a:defRPr sz="1725" b="0">
                <a:solidFill>
                  <a:srgbClr val="111111"/>
                </a:solidFill>
              </a:defRPr>
            </a:pPr>
            <a:r>
              <a:rPr sz="1725" b="0">
                <a:solidFill>
                  <a:srgbClr val="111111"/>
                </a:solidFill>
              </a:rPr>
              <a:t>Worst reward: -183</a:t>
            </a:r>
          </a:p>
          <a:p xmlns:a="http://schemas.openxmlformats.org/drawingml/2006/main">
            <a:pPr algn="l">
              <a:defRPr sz="1725" b="0">
                <a:solidFill>
                  <a:srgbClr val="111111"/>
                </a:solidFill>
              </a:defRPr>
            </a:pPr>
            <a:r>
              <a:rPr sz="1725" b="0">
                <a:solidFill>
                  <a:srgbClr val="111111"/>
                </a:solidFill>
              </a:rPr>
              <a:t>Average fitness: 549.90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F50E766-CE1D-445B-B013-64857A00E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4552950"/>
            <a:ext cx="304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444444"/>
                </a:solidFill>
              </a:defRPr>
            </a:pPr>
            <a:r>
              <a:rPr sz="1650" b="0">
                <a:solidFill>
                  <a:srgbClr val="444444"/>
                </a:solidFill>
              </a:rPr>
              <a:t>The step count changes by seed, but the policy still reaches the goal every time.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E37AD80-68B0-45FE-AF72-7B953000F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44300" y="6438900"/>
            <a:ext cx="266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83643088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570601B-10B1-422E-BB4C-F3D89972B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00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</a:defRPr>
            </a:pPr>
            <a:r>
              <a:rPr sz="2850" b="1">
                <a:solidFill>
                  <a:srgbClr val="111111"/>
                </a:solidFill>
              </a:rPr>
              <a:t>Graphical Demonstration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A725D54-837A-4CA3-B4AE-C38C093F0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952500"/>
            <a:ext cx="914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The saved best policy can be shown without retraining.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6dcd9c44ff3487e"/>
          <a:stretch xmlns:a="http://schemas.openxmlformats.org/drawingml/2006/main"/>
        </p:blipFill>
        <p:spPr>
          <a:xfrm xmlns:a="http://schemas.openxmlformats.org/drawingml/2006/main">
            <a:off x="762000" y="1517650"/>
            <a:ext cx="5619750" cy="37465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C484F3-A91F-481C-ADE7-08E2D106B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56210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11111"/>
                </a:solidFill>
              </a:defRPr>
            </a:pPr>
            <a:r>
              <a:rPr sz="1950" b="1">
                <a:solidFill>
                  <a:srgbClr val="111111"/>
                </a:solidFill>
              </a:rPr>
              <a:t>Demo command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5756D7-8A05-4508-AA5F-12AC20ABB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038350"/>
            <a:ext cx="40005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EFEFEF"/>
          </a:solidFill>
          <a:ln xmlns:a="http://schemas.openxmlformats.org/drawingml/2006/main" w="9525">
            <a:solidFill>
              <a:srgbClr val="E1E1E1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856B378-A1A3-4CCF-8EAF-218E7F575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324100"/>
            <a:ext cx="3524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</a:defRPr>
            </a:pPr>
            <a:r>
              <a:rPr sz="1500" b="1">
                <a:solidFill>
                  <a:srgbClr val="111111"/>
                </a:solidFill>
              </a:rPr>
              <a:t>python IMPL/visualize_best_solution.py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02BD903-FEDE-429A-83C5-D531442EF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390900"/>
            <a:ext cx="342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Seed 2042 screenshot run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20EDF7D-BD41-43E8-B416-52FBE1D9C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886200"/>
            <a:ext cx="3429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111"/>
                </a:solidFill>
              </a:defRPr>
            </a:pPr>
            <a:r>
              <a:rPr sz="1725" b="0">
                <a:solidFill>
                  <a:srgbClr val="111111"/>
                </a:solidFill>
              </a:rPr>
              <a:t>Steps to goal: 156</a:t>
            </a:r>
          </a:p>
          <a:p xmlns:a="http://schemas.openxmlformats.org/drawingml/2006/main">
            <a:pPr algn="l">
              <a:defRPr sz="1725" b="0">
                <a:solidFill>
                  <a:srgbClr val="111111"/>
                </a:solidFill>
              </a:defRPr>
            </a:pPr>
            <a:r>
              <a:rPr sz="1725" b="0">
                <a:solidFill>
                  <a:srgbClr val="111111"/>
                </a:solidFill>
              </a:rPr>
              <a:t>Total reward: -156</a:t>
            </a:r>
          </a:p>
          <a:p xmlns:a="http://schemas.openxmlformats.org/drawingml/2006/main">
            <a:pPr algn="l">
              <a:defRPr sz="1725" b="0">
                <a:solidFill>
                  <a:srgbClr val="111111"/>
                </a:solidFill>
              </a:defRPr>
            </a:pPr>
            <a:r>
              <a:rPr sz="1725" b="0">
                <a:solidFill>
                  <a:srgbClr val="111111"/>
                </a:solidFill>
              </a:rPr>
              <a:t>Progress bonus: 500</a:t>
            </a:r>
          </a:p>
          <a:p xmlns:a="http://schemas.openxmlformats.org/drawingml/2006/main">
            <a:pPr algn="l">
              <a:defRPr sz="1725" b="0">
                <a:solidFill>
                  <a:srgbClr val="111111"/>
                </a:solidFill>
              </a:defRPr>
            </a:pPr>
            <a:r>
              <a:rPr sz="1725" b="0">
                <a:solidFill>
                  <a:srgbClr val="111111"/>
                </a:solidFill>
              </a:rPr>
              <a:t>Goal bonus: 200</a:t>
            </a:r>
          </a:p>
          <a:p xmlns:a="http://schemas.openxmlformats.org/drawingml/2006/main">
            <a:pPr algn="l">
              <a:defRPr sz="1725" b="0">
                <a:solidFill>
                  <a:srgbClr val="111111"/>
                </a:solidFill>
              </a:defRPr>
            </a:pPr>
            <a:r>
              <a:rPr sz="1725" b="0">
                <a:solidFill>
                  <a:srgbClr val="111111"/>
                </a:solidFill>
              </a:rPr>
              <a:t>Fitness: 544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4D3D179-77C0-46CC-AE1C-CC38D108B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44300" y="6438900"/>
            <a:ext cx="266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11045349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F63897A-308F-47F2-ABE3-93B41768B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00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</a:defRPr>
            </a:pPr>
            <a:r>
              <a:rPr sz="2850" b="1">
                <a:solidFill>
                  <a:srgbClr val="111111"/>
                </a:solidFill>
              </a:rPr>
              <a:t>Conclusions And Future Work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807E02-9B07-426B-8A22-9C7C1CCBA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952500"/>
            <a:ext cx="914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The Genetic Algorithm solves the selected graphical control problem.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BC9110C-316B-4571-AE78-AD0EEC190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2400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11111"/>
                </a:solidFill>
              </a:defRPr>
            </a:pPr>
            <a:r>
              <a:rPr sz="1950" b="1">
                <a:solidFill>
                  <a:srgbClr val="111111"/>
                </a:solidFill>
              </a:rPr>
              <a:t>Main conclusions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A8626EF-5CB6-41C4-9AFF-281CFA102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19300"/>
            <a:ext cx="51435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- Policy tables can control MountainCar-v0 effectively</a:t>
            </a:r>
          </a:p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- Progress-based fitness gives better learning signal</a:t>
            </a:r>
          </a:p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- Elitism preserves strong solutions</a:t>
            </a:r>
          </a:p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- Generation champion comparison improves result analysis</a:t>
            </a:r>
          </a:p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- The final policy is robust across tested seeds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6396ACF-00A1-4175-8F5E-E949FCBD2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152400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11111"/>
                </a:solidFill>
              </a:defRPr>
            </a:pPr>
            <a:r>
              <a:rPr sz="1950" b="1">
                <a:solidFill>
                  <a:srgbClr val="111111"/>
                </a:solidFill>
              </a:rPr>
              <a:t>Future work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7EA467A-07F2-4834-BD66-B4478F9EA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2019300"/>
            <a:ext cx="43815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- Test more seeds and repeated training runs</a:t>
            </a:r>
          </a:p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- Tune GA parameters more systematically</a:t>
            </a:r>
          </a:p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- Compare with Q-learning or neural methods</a:t>
            </a:r>
          </a:p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- Add video or GIF recording for presentation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DFD44A0-391D-44D6-9066-FC471A468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734050"/>
            <a:ext cx="857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Repository: https://github.com/Hyunseok-Cho/BIAI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C93BAE0-B11E-4293-8A27-9F10B7FE2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44300" y="6438900"/>
            <a:ext cx="266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55555"/>
                </a:solidFill>
              </a:defRPr>
            </a:pPr>
            <a:r>
              <a:rPr sz="900" b="0">
                <a:solidFill>
                  <a:srgbClr val="555555"/>
                </a:solidFill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96509924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2026-06-22T16:09:41.4570000Z</dcterms:created>
  <dcterms:modified xsi:type="dcterms:W3CDTF">2026-06-22T16:09:41.4570000Z</dcterms:modified>
</coreProperties>
</file>