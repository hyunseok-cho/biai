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7b951298843c5" /><Relationship Type="http://schemas.openxmlformats.org/officeDocument/2006/relationships/extended-properties" Target="/docProps/app.xml" Id="Rfe0bde43a81c44bf" /><Relationship Type="http://schemas.openxmlformats.org/officeDocument/2006/relationships/officeDocument" Target="/ppt/presentation.xml" Id="R6a6f7f12387741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10e878618495b"/>
  </p:sldMasterIdLst>
  <p:notesMasterIdLst>
    <p:notesMasterId xmlns:r="http://schemas.openxmlformats.org/officeDocument/2006/relationships" r:id="R5b00f6af751646a7"/>
  </p:notesMasterIdLst>
  <p:sldIdLst>
    <p:sldId xmlns:r="http://schemas.openxmlformats.org/officeDocument/2006/relationships" id="256" r:id="Rcd25cd13f03d44ef"/>
    <p:sldId xmlns:r="http://schemas.openxmlformats.org/officeDocument/2006/relationships" id="257" r:id="R1d9a39a274924359"/>
    <p:sldId xmlns:r="http://schemas.openxmlformats.org/officeDocument/2006/relationships" id="258" r:id="Re2fef374c12448b2"/>
    <p:sldId xmlns:r="http://schemas.openxmlformats.org/officeDocument/2006/relationships" id="259" r:id="R67d03d221f5f439f"/>
    <p:sldId xmlns:r="http://schemas.openxmlformats.org/officeDocument/2006/relationships" id="260" r:id="Ra8e5208c323e4c6c"/>
    <p:sldId xmlns:r="http://schemas.openxmlformats.org/officeDocument/2006/relationships" id="261" r:id="R48ff1c889f454325"/>
    <p:sldId xmlns:r="http://schemas.openxmlformats.org/officeDocument/2006/relationships" id="262" r:id="Rd3625e4deecf4078"/>
    <p:sldId xmlns:r="http://schemas.openxmlformats.org/officeDocument/2006/relationships" id="263" r:id="R76d1a2c65cfc493d"/>
    <p:sldId xmlns:r="http://schemas.openxmlformats.org/officeDocument/2006/relationships" id="264" r:id="Rb2f01e930e914bac"/>
    <p:sldId xmlns:r="http://schemas.openxmlformats.org/officeDocument/2006/relationships" id="265" r:id="Rcba604a370e84b12"/>
    <p:sldId xmlns:r="http://schemas.openxmlformats.org/officeDocument/2006/relationships" id="266" r:id="R2597b51498be46a6"/>
    <p:sldId xmlns:r="http://schemas.openxmlformats.org/officeDocument/2006/relationships" id="267" r:id="R0b035cf6ef7d45b9"/>
    <p:sldId xmlns:r="http://schemas.openxmlformats.org/officeDocument/2006/relationships" id="268" r:id="R9d5940760bac4e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1f7c31c884612" /><Relationship Type="http://schemas.openxmlformats.org/officeDocument/2006/relationships/slideMaster" Target="/ppt/slideMasters/slideMaster1.xml" Id="R2d510e878618495b" /><Relationship Type="http://schemas.openxmlformats.org/officeDocument/2006/relationships/notesMaster" Target="/ppt/notesMasters/notesMaster1.xml" Id="R5b00f6af751646a7" /><Relationship Type="http://schemas.openxmlformats.org/officeDocument/2006/relationships/presProps" Target="/ppt/presProps.xml" Id="R01112aae61384fab" /><Relationship Type="http://schemas.openxmlformats.org/officeDocument/2006/relationships/tableStyles" Target="/ppt/tableStyles.xml" Id="R6f66f05062974bf3" /><Relationship Type="http://schemas.openxmlformats.org/officeDocument/2006/relationships/slide" Target="/ppt/slides/slide1.xml" Id="Rcd25cd13f03d44ef" /><Relationship Type="http://schemas.openxmlformats.org/officeDocument/2006/relationships/slide" Target="/ppt/slides/slide2.xml" Id="R1d9a39a274924359" /><Relationship Type="http://schemas.openxmlformats.org/officeDocument/2006/relationships/slide" Target="/ppt/slides/slide3.xml" Id="Re2fef374c12448b2" /><Relationship Type="http://schemas.openxmlformats.org/officeDocument/2006/relationships/slide" Target="/ppt/slides/slide4.xml" Id="R67d03d221f5f439f" /><Relationship Type="http://schemas.openxmlformats.org/officeDocument/2006/relationships/slide" Target="/ppt/slides/slide5.xml" Id="Ra8e5208c323e4c6c" /><Relationship Type="http://schemas.openxmlformats.org/officeDocument/2006/relationships/slide" Target="/ppt/slides/slide6.xml" Id="R48ff1c889f454325" /><Relationship Type="http://schemas.openxmlformats.org/officeDocument/2006/relationships/slide" Target="/ppt/slides/slide7.xml" Id="Rd3625e4deecf4078" /><Relationship Type="http://schemas.openxmlformats.org/officeDocument/2006/relationships/slide" Target="/ppt/slides/slide8.xml" Id="R76d1a2c65cfc493d" /><Relationship Type="http://schemas.openxmlformats.org/officeDocument/2006/relationships/slide" Target="/ppt/slides/slide9.xml" Id="Rb2f01e930e914bac" /><Relationship Type="http://schemas.openxmlformats.org/officeDocument/2006/relationships/slide" Target="/ppt/slides/slide10.xml" Id="Rcba604a370e84b12" /><Relationship Type="http://schemas.openxmlformats.org/officeDocument/2006/relationships/slide" Target="/ppt/slides/slide11.xml" Id="R2597b51498be46a6" /><Relationship Type="http://schemas.openxmlformats.org/officeDocument/2006/relationships/slide" Target="/ppt/slides/slide12.xml" Id="R0b035cf6ef7d45b9" /><Relationship Type="http://schemas.openxmlformats.org/officeDocument/2006/relationships/slide" Target="/ppt/slides/slide13.xml" Id="R9d5940760bac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d5342c4f71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ilesian Light">
      <a:dk1>
        <a:srgbClr val="000000"/>
      </a:dk1>
      <a:lt1>
        <a:srgbClr val="FFFFFF"/>
      </a:lt1>
      <a:dk2>
        <a:srgbClr val="073763"/>
      </a:dk2>
      <a:lt2>
        <a:srgbClr val="E5E7EB"/>
      </a:lt2>
      <a:accent1>
        <a:srgbClr val="005AA9"/>
      </a:accent1>
      <a:accent2>
        <a:srgbClr val="F2B705"/>
      </a:accent2>
      <a:accent3>
        <a:srgbClr val="073763"/>
      </a:accent3>
      <a:accent4>
        <a:srgbClr val="E30613"/>
      </a:accent4>
      <a:accent5>
        <a:srgbClr val="6B7280"/>
      </a:accent5>
      <a:accent6>
        <a:srgbClr val="16A34A"/>
      </a:accent6>
      <a:hlink>
        <a:srgbClr val="005AA9"/>
      </a:hlink>
      <a:folHlink>
        <a:srgbClr val="0737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lesian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e7cb0835a4319" /><Relationship Type="http://schemas.openxmlformats.org/officeDocument/2006/relationships/notesMaster" Target="/ppt/notesMasters/notesMaster1.xml" Id="R930fd5bbcaf8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820a023b54adc" /><Relationship Type="http://schemas.openxmlformats.org/officeDocument/2006/relationships/notesMaster" Target="/ppt/notesMasters/notesMaster1.xml" Id="R4efedce8abc747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a5dc11a42c4373" /><Relationship Type="http://schemas.openxmlformats.org/officeDocument/2006/relationships/notesMaster" Target="/ppt/notesMasters/notesMaster1.xml" Id="R130e9afb57b140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73a5e4ad04c84" /><Relationship Type="http://schemas.openxmlformats.org/officeDocument/2006/relationships/notesMaster" Target="/ppt/notesMasters/notesMaster1.xml" Id="Ra634ebabe2f44a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72ce28d1464df6" /><Relationship Type="http://schemas.openxmlformats.org/officeDocument/2006/relationships/notesMaster" Target="/ppt/notesMasters/notesMaster1.xml" Id="R9bd34a4da1db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ac1c426be48ac" /><Relationship Type="http://schemas.openxmlformats.org/officeDocument/2006/relationships/notesMaster" Target="/ppt/notesMasters/notesMaster1.xml" Id="Rf6bd6e622a1143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16a739b87497c" /><Relationship Type="http://schemas.openxmlformats.org/officeDocument/2006/relationships/notesMaster" Target="/ppt/notesMasters/notesMaster1.xml" Id="Rffce3ffcccfd4a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86b636553f4211" /><Relationship Type="http://schemas.openxmlformats.org/officeDocument/2006/relationships/notesMaster" Target="/ppt/notesMasters/notesMaster1.xml" Id="Rbe4e3f42386b49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4a612dbee445dd" /><Relationship Type="http://schemas.openxmlformats.org/officeDocument/2006/relationships/notesMaster" Target="/ppt/notesMasters/notesMaster1.xml" Id="R8f484998ab1940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3d68701de846fd" /><Relationship Type="http://schemas.openxmlformats.org/officeDocument/2006/relationships/notesMaster" Target="/ppt/notesMasters/notesMaster1.xml" Id="Rbaaa2462e3e945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446cc857f14696" /><Relationship Type="http://schemas.openxmlformats.org/officeDocument/2006/relationships/notesMaster" Target="/ppt/notesMasters/notesMaster1.xml" Id="R74b38608e56c42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f08a47163d4839" /><Relationship Type="http://schemas.openxmlformats.org/officeDocument/2006/relationships/notesMaster" Target="/ppt/notesMasters/notesMaster1.xml" Id="Rc46c69b1029f4c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af7d8024c34981" /><Relationship Type="http://schemas.openxmlformats.org/officeDocument/2006/relationships/notesMaster" Target="/ppt/notesMasters/notesMaster1.xml" Id="R7307e75e94f341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fb8a118b0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98acb3e8194115" /><Relationship Type="http://schemas.openxmlformats.org/officeDocument/2006/relationships/slideLayout" Target="/ppt/slideLayouts/slideLayout1.xml" Id="R86f35a268593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35a268593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ilesian Light">
      <a:dk1>
        <a:srgbClr val="000000"/>
      </a:dk1>
      <a:lt1>
        <a:srgbClr val="FFFFFF"/>
      </a:lt1>
      <a:dk2>
        <a:srgbClr val="073763"/>
      </a:dk2>
      <a:lt2>
        <a:srgbClr val="E5E7EB"/>
      </a:lt2>
      <a:accent1>
        <a:srgbClr val="005AA9"/>
      </a:accent1>
      <a:accent2>
        <a:srgbClr val="F2B705"/>
      </a:accent2>
      <a:accent3>
        <a:srgbClr val="073763"/>
      </a:accent3>
      <a:accent4>
        <a:srgbClr val="E30613"/>
      </a:accent4>
      <a:accent5>
        <a:srgbClr val="6B7280"/>
      </a:accent5>
      <a:accent6>
        <a:srgbClr val="16A34A"/>
      </a:accent6>
      <a:hlink>
        <a:srgbClr val="005AA9"/>
      </a:hlink>
      <a:folHlink>
        <a:srgbClr val="0737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lesian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9e3d3e947444c" /><Relationship Type="http://schemas.openxmlformats.org/officeDocument/2006/relationships/image" Target="/ppt/media/image.jpeg" Id="Rc53ebd354cf04477" /><Relationship Type="http://schemas.openxmlformats.org/officeDocument/2006/relationships/image" Target="/ppt/media/image.png" Id="Red464547537945d3" /><Relationship Type="http://schemas.openxmlformats.org/officeDocument/2006/relationships/image" Target="/ppt/media/image2.png" Id="R2b10bc8cc5754d1e" /><Relationship Type="http://schemas.openxmlformats.org/officeDocument/2006/relationships/notesSlide" Target="/ppt/notesSlides/notesSlide1.xml" Id="Rcff527c0dd5945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2bf1495e4440d" /><Relationship Type="http://schemas.openxmlformats.org/officeDocument/2006/relationships/notesSlide" Target="/ppt/notesSlides/notesSlide2.xml" Id="R1fa251ae80ff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4944f942c496d" /><Relationship Type="http://schemas.openxmlformats.org/officeDocument/2006/relationships/image" Target="/ppt/media/image3.png" Id="R93a98478cb3d4f31" /><Relationship Type="http://schemas.openxmlformats.org/officeDocument/2006/relationships/notesSlide" Target="/ppt/notesSlides/notesSlide3.xml" Id="R5820c7f6de03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5366846e44108" /><Relationship Type="http://schemas.openxmlformats.org/officeDocument/2006/relationships/notesSlide" Target="/ppt/notesSlides/notesSlide4.xml" Id="Rd435e902bdbb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7117d81674048" /><Relationship Type="http://schemas.openxmlformats.org/officeDocument/2006/relationships/notesSlide" Target="/ppt/notesSlides/notesSlide5.xml" Id="R41fd206bd8dd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a5a5b158b43e6" /><Relationship Type="http://schemas.openxmlformats.org/officeDocument/2006/relationships/notesSlide" Target="/ppt/notesSlides/notesSlide6.xml" Id="Rb118fc6d461441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8cf9a188a44dd" /><Relationship Type="http://schemas.openxmlformats.org/officeDocument/2006/relationships/image" Target="/ppt/media/image4.png" Id="R41a3a6db28a4462b" /><Relationship Type="http://schemas.openxmlformats.org/officeDocument/2006/relationships/notesSlide" Target="/ppt/notesSlides/notesSlide7.xml" Id="R4b2be35c34db49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c852a40684da6" /><Relationship Type="http://schemas.openxmlformats.org/officeDocument/2006/relationships/notesSlide" Target="/ppt/notesSlides/notesSlide8.xml" Id="Re561eaca70314f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b11683e6b4dde" /><Relationship Type="http://schemas.openxmlformats.org/officeDocument/2006/relationships/image" Target="/ppt/media/image5.png" Id="R0620d4b3788b45c7" /><Relationship Type="http://schemas.openxmlformats.org/officeDocument/2006/relationships/notesSlide" Target="/ppt/notesSlides/notesSlide9.xml" Id="R054ea6b79aef4c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0f28e89194eb4" /><Relationship Type="http://schemas.openxmlformats.org/officeDocument/2006/relationships/image" Target="/ppt/media/image6.png" Id="Rfd01827c93f746fa" /><Relationship Type="http://schemas.openxmlformats.org/officeDocument/2006/relationships/image" Target="/ppt/media/image7.png" Id="R1fa6bf7a791f4738" /><Relationship Type="http://schemas.openxmlformats.org/officeDocument/2006/relationships/notesSlide" Target="/ppt/notesSlides/notesSlide10.xml" Id="R1828ed12b1a540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be52834934066" /><Relationship Type="http://schemas.openxmlformats.org/officeDocument/2006/relationships/image" Target="/ppt/media/image8.png" Id="Rdba4b1ef79cf435f" /><Relationship Type="http://schemas.openxmlformats.org/officeDocument/2006/relationships/notesSlide" Target="/ppt/notesSlides/notesSlide11.xml" Id="Rf393e6eee6fa4c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a9cf47df642a3" /><Relationship Type="http://schemas.openxmlformats.org/officeDocument/2006/relationships/image" Target="/ppt/media/image9.png" Id="R48db3cc35ef94531" /><Relationship Type="http://schemas.openxmlformats.org/officeDocument/2006/relationships/notesSlide" Target="/ppt/notesSlides/notesSlide12.xml" Id="R444dc5462e744b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fb4ca6268403b" /><Relationship Type="http://schemas.openxmlformats.org/officeDocument/2006/relationships/notesSlide" Target="/ppt/notesSlides/notesSlide13.xml" Id="Rede6559c313944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ebd354cf044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CF2D-EA3D-4250-B6E5-84B4757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D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64547537945d3"/>
          <a:stretch xmlns:a="http://schemas.openxmlformats.org/drawingml/2006/main"/>
        </p:blipFill>
        <p:spPr>
          <a:xfrm xmlns:a="http://schemas.openxmlformats.org/drawingml/2006/main">
            <a:off x="4091564" y="647700"/>
            <a:ext cx="637022" cy="8191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0bc8cc5754d1e"/>
          <a:stretch xmlns:a="http://schemas.openxmlformats.org/drawingml/2006/main"/>
        </p:blipFill>
        <p:spPr>
          <a:xfrm xmlns:a="http://schemas.openxmlformats.org/drawingml/2006/main">
            <a:off x="5605165" y="590550"/>
            <a:ext cx="791170" cy="1143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33109-1407-499E-91A8-8747960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Genetic Algorithm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MountainCar-v0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40714-F328-458E-B4D6-1A89CC8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100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8A115-D04B-4A2A-AD35-69432D7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FINAL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A324D-7098-41C3-A609-BC2696D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7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Hyunseok Cho, Jakub Zajac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4D478-A98A-47E6-AC9B-35E07D3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260315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0138C-F983-40B0-83E9-B0AD64F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74F8A-854A-49E2-AE81-EDD1F24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3598-9E7A-4824-871C-37A4909C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2B5E-C473-4405-AD44-E908683D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SUPERVISED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2E851-F1FB-4C99-87B2-A6422D94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B0472-1C6B-4867-8461-E951542F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Today's 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66C8F-E5E1-4ED0-A4E1-70CBB26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283DC-D52C-486E-83F4-08B3F0AF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86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30EDD-567A-4FC7-A06E-FDAED44A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Project topic and 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1347E-CEE5-472E-9051-8336586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14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A6248-A837-484E-AB41-D2321E35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4C322-B25D-4707-91F8-57EC49D1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28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Genetic Algorithm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CD475-24A4-4CDC-B417-CF7F09C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A9A1-3415-409E-B2C1-C7507AD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D097-E1E1-4690-9D42-7ECB186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Fitness and policy representation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CDE87-59B2-4BE2-9168-A4732B1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21C6D-C52D-45EF-8D6B-D56C15F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735D9-EA75-4767-B5EA-EE544DD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Implementation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F7232-F623-4C44-9623-6A4B06B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25C91-20BC-41B8-A21C-197E9B1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C1127-C80B-4DEF-BFB3-529E75B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Experimental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435D7-9888-45C1-AAEC-7E5F67EF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DC769-7997-4474-BE07-4393A78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A021B-7D4C-4CD5-95AB-5ED2926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815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638815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713B9-23F8-40BA-830E-1FE6192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BA77E-DBF5-45A2-BC72-FAECBE8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D1D09-AB28-449F-9A3C-7ECBAC6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7DAA-8C48-4AC7-BF4A-465757B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E9573-DED4-489E-AE75-CA7C2E9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145AC-35CB-47E4-87FC-474FF003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Problem: Reach The MountainCar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F0EC5-40EA-4224-9C99-5320AFA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car must build momentum because direct acceleration is not enough.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5D3F7-2063-45E5-A375-13DB095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F993A-2C78-4245-BB5C-A08AD0F2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Observation: position and velocity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246F7-2509-461E-894B-8BB9CD2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B61F0-23C7-4C12-B88A-1479AF5F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Actions: accelerate left, do nothing, accelerate right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33E49-96AC-4314-8F62-6DF5CEDC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78F17-92D4-430D-9255-C7827F1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Reward: -1 for every time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FC9D1-63C4-46C7-85F5-637E2DA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2F0CB-8115-4F48-B906-AAD5BE8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Goal: reach the flag in as few steps as possible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8380C-ECBA-499A-94AF-33AC18E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981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98478cb3d4f31"/>
          <a:stretch xmlns:a="http://schemas.openxmlformats.org/drawingml/2006/main"/>
        </p:blipFill>
        <p:spPr>
          <a:xfrm xmlns:a="http://schemas.openxmlformats.org/drawingml/2006/main">
            <a:off x="6991350" y="2552700"/>
            <a:ext cx="3638550" cy="23241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08C35-58FF-4802-B9E8-445702C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9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Visual proof: saved policy reaches the goal area without retraining.</a:t>
            </a:r>
          </a:p>
        </p:txBody>
      </p:sp>
    </p:spTree>
    <p:extLst>
      <p:ext uri="{BB962C8B-B14F-4D97-AF65-F5344CB8AC3E}">
        <p14:creationId xmlns:p14="http://schemas.microsoft.com/office/powerpoint/2010/main" val="267398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C410C-22ED-46A3-9610-7C3DC322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071E-0DFB-43C5-AC68-BB597A0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8FE68-0C7F-432E-8294-5846D4A1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D16A6-91C9-411D-9EAF-C017A819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METHOD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57A93-5A8A-4C37-AD06-CBD323E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39128-BA05-44BC-AA79-498FB2C6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A Genetic Algorithm?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96C9D-77C1-44DC-8AFE-4220A6F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We evolve policies directly instead of learning gradients.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B013B-4E75-4690-8E29-0BA0C34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ADEE3-7610-432A-9FAA-0F4140B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Fits the course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988C0-CA62-4274-81B6-92519D9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Demonstrates selection, crossover, mutation, elitism, and generations.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5C379-E0DB-43D8-A6AC-3EE5124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6D385-C29F-46E4-8AB1-BD0660FF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Simple policy representation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98EF4-C872-4BFE-9507-D47F8F5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 chromosome is a policy table, so every individual is a complete controller.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8B686-7414-4DC1-8B71-99E3229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4CD7F-F73C-4C82-AA75-3E95F27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Easy to compare generations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93C14-F745-48DD-BE34-BA35A841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Each generation champion is saved and validated under the same seed 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8323B-3DA4-49DB-B3B1-13BE743E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Selected over random search because GA improves the population systematically.</a:t>
            </a:r>
          </a:p>
        </p:txBody>
      </p:sp>
    </p:spTree>
    <p:extLst>
      <p:ext uri="{BB962C8B-B14F-4D97-AF65-F5344CB8AC3E}">
        <p14:creationId xmlns:p14="http://schemas.microsoft.com/office/powerpoint/2010/main" val="955926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80E4A-1F3E-44B8-A1E9-AA2EAD47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3C0FF-37B6-4734-A9FB-B05B3270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C4D1B-DE87-4F4C-A608-B98F583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44836-5DE7-4015-A0C6-5C1B918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FITNESS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5C060-EF36-477A-9139-905783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D1BA9-BC69-4898-8CCD-FD09890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Policy Representation And Fitness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09433-89BB-4B2C-B64D-88A8AE4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policy table maps discretized states to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78BF4-F5A1-42A2-9FF4-13D4A0F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FBFA-F372-4722-80DC-7775B69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AFF1C-644D-4A14-9ED9-6162BB3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145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position bins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8052-BDD6-45C0-AE3E-3B558F0F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EA13-3146-45E9-AD67-2353907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D557D-6F5D-41B1-A17B-5C5D3D0A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145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velocity bins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67D2B-28F9-461F-993B-E8AF422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33700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DCE14-F367-44F5-BFAD-6F21C89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51234-36F2-4B87-AF6A-324A995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145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policy genes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F3531-5851-4D40-B42E-CFEF3C16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fitness = total_reward + progress_bonus + goal_bonus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CD454-E8A8-4FA1-9671-0457EDF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28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E4848-DC04-4A62-BD44-07011AC8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48D01-09F3-45B8-98BE-C624FA2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Raw reward alone makes failed policies look too similar.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E9AA6-292C-49C2-A9EC-7AC21C7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AE4A6-D21E-4E6C-AC15-0F19EBF6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Progress bonus rewards movement toward the goal.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E7F4B-D7FC-4E83-889A-CCA7182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07FF5-AE19-47F7-AE46-883B6098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Goal bonus rewards actual success.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B7E49-033E-4157-BD14-CC81560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86D76-B5D8-4D49-ABCE-B48CD685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Fewer steps still produce better total reward.</a:t>
            </a:r>
          </a:p>
        </p:txBody>
      </p:sp>
    </p:spTree>
    <p:extLst>
      <p:ext uri="{BB962C8B-B14F-4D97-AF65-F5344CB8AC3E}">
        <p14:creationId xmlns:p14="http://schemas.microsoft.com/office/powerpoint/2010/main" val="1995120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DC92F-A6AE-4F55-9B87-B55D4E1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52F1-AD07-40C7-A520-DE9AC8C7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FA105-9B67-4332-8052-2210C8C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85770-7CCC-438D-9D06-659A32D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C700A-A758-4BCC-A9DA-8A031BE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ACF2E-1687-4955-8EF3-9BA619B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Main Algorithm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39626-1C43-4FB9-9F8A-6A0FA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detailed report contains the full flowchart; this slide shows the presentation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5FC7-0CBD-4AAD-A350-6BDD8C78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80728-DD46-49C8-AFBD-07A8567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76D23-6343-4A02-BCA6-D7CC3F99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A9B26-BA50-45A5-B1CE-6DBE8DE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67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Create 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33D60-1B53-4EB9-B658-2B3DE580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80 random policy tables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1A81-6F6B-4A6F-931E-43F93C6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85D3A-D7FC-4BEC-B711-4E1EDD76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12418-75FA-4C94-A818-59A4AC3F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64771-94CA-4FB3-A595-67C3D22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 policies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79FAA-8FFA-46BA-8567-0294A57E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Run each policy in MountainCar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A4509-2CC9-4D61-8775-2792AC98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53CA9-8D6A-45D2-84DB-48E298CB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F040B-FF18-41A7-9DD8-8FB17B3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71BA2-F11F-429B-88CE-5521F8C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Calculate fitness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B522D-C28E-4568-85CD-701B5169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Reward + progress + goal bonus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21405-A61E-43B7-BCF9-AAC92DB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EF64F-8CF0-4AE8-AAF6-8C9F2AF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421BA-B0D0-4435-8017-330BC38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651F8-1472-4DC0-A242-870A4BA8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Preserve elites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A6FCA-5168-4311-8CDA-9B30AF3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Copy top 6 policies directly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90844-4985-44CA-8AB3-18C697C3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7BE5D-1146-40E0-B655-D6320F9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9B8E1-46D0-4844-94A7-92B694B1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E24DF-B17F-403D-9FA9-5539970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03D32-2050-481E-8569-1DE425D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57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Tournament selection, crossover, mutation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F9693-CD09-4748-8B6A-8B98601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0161A-CF40-499D-B84F-7E5A6756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95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B4A8B8-455E-4F88-820C-689CCCC4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9F02D-1F5D-4D7E-B530-E317186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3FB62-13CD-40E6-84C7-DC596D1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Build next generation up to 60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727026-2DAA-48CC-9602-D1A11B67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Saved during training: generation champions, overall best policy, CSV metrics, and plots.</a:t>
            </a:r>
          </a:p>
        </p:txBody>
      </p:sp>
    </p:spTree>
    <p:extLst>
      <p:ext uri="{BB962C8B-B14F-4D97-AF65-F5344CB8AC3E}">
        <p14:creationId xmlns:p14="http://schemas.microsoft.com/office/powerpoint/2010/main" val="543275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025FD-BC39-4105-B43F-D45E7479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1094C-F2A7-4807-9112-94273F5F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D50A6-0217-45A4-B136-2EE3C20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DEED9-DBC8-4E67-911F-BA99CB9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ALGORITHM FLOW-CHART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F567A-9FBE-4747-92DE-3AC2F7C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3CFF-56DF-49AD-B0C2-5DCCBAC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Task 3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Algorithm Flow Chart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9C531-D32A-4220-BB46-2CB74096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complete GA process: initialization, generation loop, champion saving, final validation, and visualization.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A1DA0-782B-4D37-9BED-EF854A7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5429250" cy="577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3a6db28a4462b"/>
          <a:stretch xmlns:a="http://schemas.openxmlformats.org/drawingml/2006/main"/>
        </p:blipFill>
        <p:spPr>
          <a:xfrm xmlns:a="http://schemas.openxmlformats.org/drawingml/2006/main">
            <a:off x="6257925" y="523875"/>
            <a:ext cx="5105400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7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92416-6F09-4C75-97F5-1BBBBA3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22C4F-7C10-465C-B2F8-1B4D207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D21C3-C3B9-493B-BF63-208FC76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DC85-1175-4886-BD96-7B0999FD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REPOSITORY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BD9EE-BF97-47A6-9F0B-7690E61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6D8DE-8E20-48D6-910D-0F2CA30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Implementation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115DB-C5F4-49CD-A431-84A5A879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repository is organized for final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99C73-B91A-4328-B6EF-33345FC4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6D803-C880-4EA8-9DBB-425C9090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IMPL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FF347-F9AB-4035-8701-6946494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mountain_car_ga.py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visualize_best_solution.py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requirements.txt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515B2-816F-4481-8B28-AC135134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AB2C2-F3C2-4C68-8941-BDB23DCB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97F38-8D1D-4809-AA19-FED95C1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CSV results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training and validation plots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best_individual.npy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champions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30DE0-9238-4838-A815-E15EBB1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BCCDF-1EC3-4E10-A2A4-B444A3D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E2A50-3D95-487F-AF47-E6C97EC0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final report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task reports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algorithm details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40C47-D6A9-42B1-8C2D-0F236DF8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 from project root: python IMPL/mountain_car_ga.py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A1F62-76C7-4B51-9906-6C2C7D8D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README.md is kept at the project root; generated outputs are saved under DATA/.</a:t>
            </a:r>
          </a:p>
        </p:txBody>
      </p:sp>
    </p:spTree>
    <p:extLst>
      <p:ext uri="{BB962C8B-B14F-4D97-AF65-F5344CB8AC3E}">
        <p14:creationId xmlns:p14="http://schemas.microsoft.com/office/powerpoint/2010/main" val="1296537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F174B-6F16-4E0E-834D-70A42EE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B5B7-FAC8-457B-998E-FCC9410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F9FD3-DB6B-47E9-A0A6-4312861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A75ED-E1F3-4725-A97A-30CDCC5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C727A-8E12-4743-A012-7221CB19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CCE9-66BE-4D2D-B164-0A2043C1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Experiment 1: Training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01A1E-7177-4355-A9EA-645D114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Fitness improves strongly over generations.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CAB8-31B6-4E76-AA75-E7E3B7E6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429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0d4b3788b45c7"/>
          <a:stretch xmlns:a="http://schemas.openxmlformats.org/drawingml/2006/main"/>
        </p:blipFill>
        <p:spPr>
          <a:xfrm xmlns:a="http://schemas.openxmlformats.org/drawingml/2006/main">
            <a:off x="1900238" y="2857500"/>
            <a:ext cx="4000500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68E99-B291-4DD6-BD7D-ACB09983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149DB-F8F2-48F3-B6B7-0AFAA829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19.78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8B229-43F0-42FC-A2BF-1253F7F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Gen 1 best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5E1B3-D3AE-4B3A-BB92-F2752E90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7EA7-F9FD-4CDC-B066-BAC4D05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574.67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A1D3A-7A25-4C70-83A0-62CDAAF7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Gen 56 best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5B0B3-254B-472B-9127-41CA9762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1BFD9-0F39-48F5-B539-7A9F5CA6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572.00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8DED1-CB56-422F-908F-89273EC8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53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Gen 60 best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10A94-9CCC-4342-911F-93B07FA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Gen 56 is training-best; Gen 55 is validation-best because validation uses fixed seeds.</a:t>
            </a:r>
          </a:p>
        </p:txBody>
      </p:sp>
    </p:spTree>
    <p:extLst>
      <p:ext uri="{BB962C8B-B14F-4D97-AF65-F5344CB8AC3E}">
        <p14:creationId xmlns:p14="http://schemas.microsoft.com/office/powerpoint/2010/main" val="776301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683D1-8435-4833-91BA-B677144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E4865-5B0D-40A4-98E6-9A3C6DB0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79CE5-5ACD-45A7-AA1F-B45FF30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C63E4-21BA-4265-8FF8-F6C82CF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22EAD-ECC9-4F92-9B5C-D900B38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74510-4CD3-48D1-9E38-9BFB4719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Experiment 2: Champion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0976C-715E-450E-B308-916F699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Each generation best policy is re-tested using the same validation seeds.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66687-2A80-4960-9402-520648C5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857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1827c93f746fa"/>
          <a:stretch xmlns:a="http://schemas.openxmlformats.org/drawingml/2006/main"/>
        </p:blipFill>
        <p:spPr>
          <a:xfrm xmlns:a="http://schemas.openxmlformats.org/drawingml/2006/main">
            <a:off x="962025" y="2781300"/>
            <a:ext cx="4267200" cy="2133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231BC-7F65-4B9E-A2B1-C47A5053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4857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6bf7a791f4738"/>
          <a:stretch xmlns:a="http://schemas.openxmlformats.org/drawingml/2006/main"/>
        </p:blipFill>
        <p:spPr>
          <a:xfrm xmlns:a="http://schemas.openxmlformats.org/drawingml/2006/main">
            <a:off x="6296025" y="2781300"/>
            <a:ext cx="4267200" cy="2133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DDCEA-5096-49B0-AE3E-C5F4FDD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08694-D935-4F3A-8E6C-E5F4014B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786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1: 0% 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D5DE9-4B8E-4C53-910F-3668C8C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B8465-9A8D-4CF8-9AC6-78232E6B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786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55: 100% success, avg fitness 560.20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70712-3CEE-44D0-9E7E-2E2242C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1E51B-4E42-4243-8875-8325F89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05500"/>
            <a:ext cx="786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60: 100% success, avg fitness 558.80</a:t>
            </a:r>
          </a:p>
        </p:txBody>
      </p:sp>
    </p:spTree>
    <p:extLst>
      <p:ext uri="{BB962C8B-B14F-4D97-AF65-F5344CB8AC3E}">
        <p14:creationId xmlns:p14="http://schemas.microsoft.com/office/powerpoint/2010/main" val="665453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B1B7B-264B-4CB3-860E-D0D67377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47C81-9DC4-481F-9CD0-5D192D23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52DF3-19E3-4826-83B9-7739C5FA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FF1E7-78A2-4E60-A3F5-BF6E4B52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2198F-06D4-44D2-85B9-54EC7861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F210B-CBA7-49B2-9A41-A246D17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Experiment 3: Randomization Effects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E9AE-5D48-45D5-AA73-6175E4D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final policy was tested under 20 different reset seeds.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16CDA-F88E-462C-A1DD-C9BD6383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7048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4b1ef79cf435f"/>
          <a:stretch xmlns:a="http://schemas.openxmlformats.org/drawingml/2006/main"/>
        </p:blipFill>
        <p:spPr>
          <a:xfrm xmlns:a="http://schemas.openxmlformats.org/drawingml/2006/main">
            <a:off x="1671638" y="2781300"/>
            <a:ext cx="5000625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06FA4-E8F5-4310-B0B7-44428090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B93A4-AA00-45AE-B8C2-F76B4868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6D766-BA01-46F5-A9F0-38C0C0D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9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trials succeeded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2379E-2BC6-4B6D-A0FD-48EBFD6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D7349-88B4-4C6A-AC63-29BA576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-150.10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BC13F-07B8-4CE2-85E1-720F2BB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avg 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69A06-7C2F-492C-843F-A84EA3E4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58432-6568-44D3-A109-56A2293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43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549.90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2B68F-5857-428B-A18F-D848CAD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864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avg fitness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2E23E-E7A3-4F30-9020-315365E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Step count changes by seed, but the policy reaches the goal every time.</a:t>
            </a:r>
          </a:p>
        </p:txBody>
      </p:sp>
    </p:spTree>
    <p:extLst>
      <p:ext uri="{BB962C8B-B14F-4D97-AF65-F5344CB8AC3E}">
        <p14:creationId xmlns:p14="http://schemas.microsoft.com/office/powerpoint/2010/main" val="1064487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4B7515-9D62-4FE8-BD53-92DB1D1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87F09-9705-4AC1-9920-ACF33E6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C01CA-083D-4D2D-89AC-1A55B2F4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AF3DB-4B35-4204-9E43-3DAF8106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ADF68-7BF4-46C0-8133-E88D378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47277-5778-4E62-BC9C-3BB06A5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Graphical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78986-34B7-475C-B228-E494A6A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saved best policy can be shown without retraining.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26075-8F8A-4E52-9DDA-E7FAAC60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b3cc35ef94531"/>
          <a:stretch xmlns:a="http://schemas.openxmlformats.org/drawingml/2006/main"/>
        </p:blipFill>
        <p:spPr>
          <a:xfrm xmlns:a="http://schemas.openxmlformats.org/drawingml/2006/main">
            <a:off x="1423988" y="2895600"/>
            <a:ext cx="4543425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B8670-03BB-4BF1-841A-68B1BAD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Demo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0F7B7-7B9D-481C-B844-3AC7833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23BE6-8947-433A-8AFE-114BFBD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python IMPL/visualize_best_solution.py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C4389-3A5E-4953-9E88-A18E11B7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Seed 2042 screenshot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6771E-47B1-4E87-A0DE-593FEC4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38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FBE8A-43F8-48A5-8545-62E1F41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625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Steps to goal: 156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13FD8-11F5-44B0-B7D2-32C71A5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9AE09-89B4-4004-AB65-94F13E5A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292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Total reward: -156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7AD53-8797-4455-9366-47C49A5D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72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9C0A0-F5CB-4C79-B9D7-42ABEDC5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959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Progress bonus: 500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9503-3877-492E-90AB-7697C62D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38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610D9-4EC5-47F5-8944-434E9BB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626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Goal bonus: 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0C0A8-BA29-4BA7-BDC4-ADAA707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905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1E55D-00EC-4103-9FE7-A7A777E5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29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Fitness: 544</a:t>
            </a:r>
          </a:p>
        </p:txBody>
      </p:sp>
    </p:spTree>
    <p:extLst>
      <p:ext uri="{BB962C8B-B14F-4D97-AF65-F5344CB8AC3E}">
        <p14:creationId xmlns:p14="http://schemas.microsoft.com/office/powerpoint/2010/main" val="269497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14601-428E-4C3F-A8F5-BE922E98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1CB19-835F-4ECD-BC90-A7246D11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BIAI Project  |  Genetic Algorithm for MountainCar-v0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948E6-B87B-4056-B90C-93F2DE94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18D3-10B8-40B2-9C8F-36D9776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19CC9-7BE6-4343-BFC9-74622448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DAE2F-3693-4E9D-B7E1-0944F33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Conclusions And Future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42AFB-B1C9-4D20-94D7-DCDEA0EF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Genetic Algorithm solves the selected graphical control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936DD-5339-46C2-9192-01F6E67B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Main conclusions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111A6-C7CB-4242-B228-9F871C1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286E8-20D7-428F-A036-C2E6AE9A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Policy tables can control MountainCar-v0 effectively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EB8A7-CD9E-44BC-AA27-A02241B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72CE8-2734-49C1-8611-E87B7078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Progress-based fitness gives a better learning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CF31F-2BA2-4B56-A4E6-F156EDF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B59BF-C965-4FB4-BDF6-90240128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Elitism preserves strong solutions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EE712-D9EF-4231-8BBD-2B8A9CB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03674-0C5F-4C7C-ABF8-87D293C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champion comparison improves result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2BB1F-3935-4C19-83F7-06823F51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B0B20-8843-4896-89B5-EEABD0D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final policy is robust across tested seeds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9580A-2069-4E28-801B-C0C3D29A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43CCF-3B7A-4A69-8925-FA3C9993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A7596-6237-436E-8A73-DFF0ECDE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 more seeds and repeated training runs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5CCEF-0BED-4EE8-81BD-326B0074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F2AEC-63BD-4496-8ED4-97912E12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Tune GA parameters more systematically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249C1-0770-4744-8035-E04A9CC5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B2271-BE0D-44C4-A632-BD2090C5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with Q-learning or neural methods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99C41-24EA-4F71-936A-6A49956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74A1B-59C7-4231-9AFA-C06F68C8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Add video or GIF recording for 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FBB08-9C24-4CF7-9355-B9C3BF2B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Repository: https://github.com/Hyunseok-Cho/BIAI</a:t>
            </a:r>
          </a:p>
        </p:txBody>
      </p:sp>
    </p:spTree>
    <p:extLst>
      <p:ext uri="{BB962C8B-B14F-4D97-AF65-F5344CB8AC3E}">
        <p14:creationId xmlns:p14="http://schemas.microsoft.com/office/powerpoint/2010/main" val="1156894166"/>
      </p:ext>
    </p:extLst>
  </p:cSld>
</p:sld>
</file>

<file path=ppt/theme/theme1.xml><?xml version="1.0" encoding="utf-8"?>
<a:theme xmlns:a="http://schemas.openxmlformats.org/drawingml/2006/main" name="ChatGPT">
  <a:themeElements>
    <a:clrScheme name="Silesian Light">
      <a:dk1>
        <a:srgbClr val="000000"/>
      </a:dk1>
      <a:lt1>
        <a:srgbClr val="FFFFFF"/>
      </a:lt1>
      <a:dk2>
        <a:srgbClr val="073763"/>
      </a:dk2>
      <a:lt2>
        <a:srgbClr val="E5E7EB"/>
      </a:lt2>
      <a:accent1>
        <a:srgbClr val="005AA9"/>
      </a:accent1>
      <a:accent2>
        <a:srgbClr val="F2B705"/>
      </a:accent2>
      <a:accent3>
        <a:srgbClr val="073763"/>
      </a:accent3>
      <a:accent4>
        <a:srgbClr val="E30613"/>
      </a:accent4>
      <a:accent5>
        <a:srgbClr val="6B7280"/>
      </a:accent5>
      <a:accent6>
        <a:srgbClr val="16A34A"/>
      </a:accent6>
      <a:hlink>
        <a:srgbClr val="005AA9"/>
      </a:hlink>
      <a:folHlink>
        <a:srgbClr val="0737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lesian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2026-06-24T19:12:35.9550000Z</dcterms:created>
  <dcterms:modified xsi:type="dcterms:W3CDTF">2026-06-24T19:12:35.9550000Z</dcterms:modified>
</coreProperties>
</file>